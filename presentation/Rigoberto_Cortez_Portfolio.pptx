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ef2218832584689" /><Relationship Type="http://schemas.openxmlformats.org/officeDocument/2006/relationships/extended-properties" Target="/docProps/app.xml" Id="R2a17a62870b6419e" /><Relationship Type="http://schemas.openxmlformats.org/officeDocument/2006/relationships/officeDocument" Target="/ppt/presentation.xml" Id="R988e67836e2c47e6" /></Relationships>
</file>

<file path=ppt/presentation.xml><?xml version="1.0" encoding="utf-8"?>
<p:presentation xmlns:p="http://schemas.openxmlformats.org/presentationml/2006/main">
  <p:sldMasterIdLst>
    <p:sldMasterId xmlns:r="http://schemas.openxmlformats.org/officeDocument/2006/relationships" id="2147483648" r:id="R76fd04e4a707473f"/>
  </p:sldMasterIdLst>
  <p:notesMasterIdLst>
    <p:notesMasterId xmlns:r="http://schemas.openxmlformats.org/officeDocument/2006/relationships" r:id="R8efbf855af0d4e0d"/>
  </p:notesMasterIdLst>
  <p:sldIdLst>
    <p:sldId xmlns:r="http://schemas.openxmlformats.org/officeDocument/2006/relationships" id="256" r:id="R75030a2cd1584f73"/>
    <p:sldId xmlns:r="http://schemas.openxmlformats.org/officeDocument/2006/relationships" id="257" r:id="Redb16915fb4b4337"/>
    <p:sldId xmlns:r="http://schemas.openxmlformats.org/officeDocument/2006/relationships" id="258" r:id="R50906e139a7e4a5d"/>
    <p:sldId xmlns:r="http://schemas.openxmlformats.org/officeDocument/2006/relationships" id="259" r:id="R29993e625a5f4e0a"/>
    <p:sldId xmlns:r="http://schemas.openxmlformats.org/officeDocument/2006/relationships" id="260" r:id="R8da3e5f23cf94ca3"/>
    <p:sldId xmlns:r="http://schemas.openxmlformats.org/officeDocument/2006/relationships" id="261" r:id="R24e58f84bc8e4111"/>
    <p:sldId xmlns:r="http://schemas.openxmlformats.org/officeDocument/2006/relationships" id="262" r:id="R2610f94704704043"/>
    <p:sldId xmlns:r="http://schemas.openxmlformats.org/officeDocument/2006/relationships" id="263" r:id="R492ece78311d43b7"/>
    <p:sldId xmlns:r="http://schemas.openxmlformats.org/officeDocument/2006/relationships" id="264" r:id="R59f6621ff73f4788"/>
    <p:sldId xmlns:r="http://schemas.openxmlformats.org/officeDocument/2006/relationships" id="265" r:id="R30e7f05811c9403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a42a6e12614c51" /><Relationship Type="http://schemas.openxmlformats.org/officeDocument/2006/relationships/slideMaster" Target="/ppt/slideMasters/slideMaster1.xml" Id="R76fd04e4a707473f" /><Relationship Type="http://schemas.openxmlformats.org/officeDocument/2006/relationships/notesMaster" Target="/ppt/notesMasters/notesMaster1.xml" Id="R8efbf855af0d4e0d" /><Relationship Type="http://schemas.openxmlformats.org/officeDocument/2006/relationships/presProps" Target="/ppt/presProps.xml" Id="Ra27b4bc1043f41d3" /><Relationship Type="http://schemas.openxmlformats.org/officeDocument/2006/relationships/tableStyles" Target="/ppt/tableStyles.xml" Id="Ra6a9cfdf06a34aea" /><Relationship Type="http://schemas.openxmlformats.org/officeDocument/2006/relationships/slide" Target="/ppt/slides/slide1.xml" Id="R75030a2cd1584f73" /><Relationship Type="http://schemas.openxmlformats.org/officeDocument/2006/relationships/slide" Target="/ppt/slides/slide2.xml" Id="Redb16915fb4b4337" /><Relationship Type="http://schemas.openxmlformats.org/officeDocument/2006/relationships/slide" Target="/ppt/slides/slide3.xml" Id="R50906e139a7e4a5d" /><Relationship Type="http://schemas.openxmlformats.org/officeDocument/2006/relationships/slide" Target="/ppt/slides/slide4.xml" Id="R29993e625a5f4e0a" /><Relationship Type="http://schemas.openxmlformats.org/officeDocument/2006/relationships/slide" Target="/ppt/slides/slide5.xml" Id="R8da3e5f23cf94ca3" /><Relationship Type="http://schemas.openxmlformats.org/officeDocument/2006/relationships/slide" Target="/ppt/slides/slide6.xml" Id="R24e58f84bc8e4111" /><Relationship Type="http://schemas.openxmlformats.org/officeDocument/2006/relationships/slide" Target="/ppt/slides/slide7.xml" Id="R2610f94704704043" /><Relationship Type="http://schemas.openxmlformats.org/officeDocument/2006/relationships/slide" Target="/ppt/slides/slide8.xml" Id="R492ece78311d43b7" /><Relationship Type="http://schemas.openxmlformats.org/officeDocument/2006/relationships/slide" Target="/ppt/slides/slide9.xml" Id="R59f6621ff73f4788" /><Relationship Type="http://schemas.openxmlformats.org/officeDocument/2006/relationships/slide" Target="/ppt/slides/slide10.xml" Id="R30e7f05811c9403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ac5693c4fdd428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8b99bfaf2ec407d" /><Relationship Type="http://schemas.openxmlformats.org/officeDocument/2006/relationships/notesMaster" Target="/ppt/notesMasters/notesMaster1.xml" Id="Rbfffebe4d5af4f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d593523d9b41bc" /><Relationship Type="http://schemas.openxmlformats.org/officeDocument/2006/relationships/notesMaster" Target="/ppt/notesMasters/notesMaster1.xml" Id="R68bba489107a45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0096994d3c4271" /><Relationship Type="http://schemas.openxmlformats.org/officeDocument/2006/relationships/notesMaster" Target="/ppt/notesMasters/notesMaster1.xml" Id="Rb7773a72a9824d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225dc76756442d" /><Relationship Type="http://schemas.openxmlformats.org/officeDocument/2006/relationships/notesMaster" Target="/ppt/notesMasters/notesMaster1.xml" Id="R42c27d24af654b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08fb7c96184348" /><Relationship Type="http://schemas.openxmlformats.org/officeDocument/2006/relationships/notesMaster" Target="/ppt/notesMasters/notesMaster1.xml" Id="Rde989a6382e44e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b562597d7844452" /><Relationship Type="http://schemas.openxmlformats.org/officeDocument/2006/relationships/notesMaster" Target="/ppt/notesMasters/notesMaster1.xml" Id="Rcbebf1e1f5d24b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8c9d57e8914a12" /><Relationship Type="http://schemas.openxmlformats.org/officeDocument/2006/relationships/notesMaster" Target="/ppt/notesMasters/notesMaster1.xml" Id="Rc34dd99c61e248b6"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1090f5c2034246" /><Relationship Type="http://schemas.openxmlformats.org/officeDocument/2006/relationships/notesMaster" Target="/ppt/notesMasters/notesMaster1.xml" Id="Ra3bca263d08748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05a5ddc4e8411a" /><Relationship Type="http://schemas.openxmlformats.org/officeDocument/2006/relationships/notesMaster" Target="/ppt/notesMasters/notesMaster1.xml" Id="R76b4cd75989d4f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eaf61e0eed4e96" /><Relationship Type="http://schemas.openxmlformats.org/officeDocument/2006/relationships/notesMaster" Target="/ppt/notesMasters/notesMaster1.xml" Id="R9ccad2da9cd547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Profile from user-provided context. First-year EE student at UC San Diego, October 2026. Projects on later slides distinguish completed work, team contributions, and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user’s earlier SPIS chess-camera description. Approximately 98% and one error were reported for informal testing. Trial size and logs are unavailable. No code repository was supplied. Personal contribution: team development, testing, and tuning; sole code authorship is not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engineering/Engineering_WrittenReport_Template.docx, Automated Guided Vehicle Project Tank Edition. Team: Nayeli Leyva, Rigoberto Cortez, Emiliano Banuelos. Photos from report. Report states code was unfinished. Assignment required a ¼-inch line, a 6-second intersection stop, cargo, manual start, emergency stop, and obstacle sensing.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Speaker construction(1).pdf, sections 1–5 and 7–9. CAD image extracted from page 13. Dimensions from proposal. Partial enclosure CAD, not a physically built speaker. Proposed ESP32 and four ToF sensors.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Speaker construction(1).pdf. Proposed 2.0-channel module does not establish four independent outputs. Next steps here are editorial synthesis of the proposal’s requirements and unresolved decisions, not completed implementation. No measured power or acoustic benefits. CAD image from page 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Group Chess Board Assembly archive. Knight, Steve pawn, and wolf bishop title blocks credit Rigoberto Cortez Cadenas. Other drawings credit Natalie Munoz, Stephanie Garcia Solis, and Emiliano Banuelos. Assembly is shared. STEP files from engineering archive; physical printing not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Copy of 2.3.7 Container Design Documentation.docx, dated 4/22/25; Copy of 2.3.4.A CAMStrategyPracticePart1 .docx; Copy of 2.3.6 CAMStrategyPractice_.docx. No finished machined-part photo or verified run. STEP files in Chest Cool Assembly archive; authorship not independently established by filename.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Copy of G1.0_ Prototype Planning and Documentation (Assignment).docx and Copy of PR1 Project Proposal (Assignment).docx. Team planning and material exploration. Sensor candidates listed but no completed pressure-mapping system, calibration, or sensing data. Health and market claims not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building bridges reflection.docx, dated 12/19/24. Constraints: max 60 sticks, 24-inch span. Report says build fell approximately 4 inches short and gives no measured maximum load. This is separate from the balsa tower. Photograph from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Interests and current learning from user-provided context. Repository is private unless owner changes access. Contact email provided in user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50d73e3574e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0b2921cd8de4ed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99d2c43503f465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50f2d53e85548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f6e78ff3b7f4b3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8256f3f70024e6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E56F987-6883-49EF-A7DA-7A10549015AE}"/>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EFD6770-876F-4DB7-BDDB-265E5F0FC27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305A5383-28E0-4D03-B6A7-AAAD41D336B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A9B6680-E962-40F0-B78E-CA0B23BD9094}"/>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16F9D9B-1036-464D-ADB2-07BA93CA377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00A2833-FC16-4F4B-B68D-18040F35B12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2C97226-984A-4392-AFF0-1612970728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A591CCA7-AA00-4EBF-8784-CBC795161C3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88122E2-DF3C-4B01-AF58-12EF0981ED0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A1645DB-A844-4DFA-B988-7CED8613C9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773A1D2-2A58-4795-8DA6-8995785E94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F5E2C00-CADA-45A3-A608-54B282AD5D8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0F7866B-C7B5-40A8-80CB-7DB3C33B8E5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1CC6916-1178-4F99-A332-9EA920B0E1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2F103E9-252D-43D3-86ED-8CEBE953FE3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0a328f78734461" /><Relationship Type="http://schemas.openxmlformats.org/officeDocument/2006/relationships/slideLayout" Target="/ppt/slideLayouts/slideLayout1.xml" Id="Ref398a1d42194a8f" /><Relationship Type="http://schemas.openxmlformats.org/officeDocument/2006/relationships/slideLayout" Target="/ppt/slideLayouts/slideLayout2.xml" Id="R91cdce54269341e5" /><Relationship Type="http://schemas.openxmlformats.org/officeDocument/2006/relationships/slideLayout" Target="/ppt/slideLayouts/slideLayout3.xml" Id="R8bd05386b096427e" /><Relationship Type="http://schemas.openxmlformats.org/officeDocument/2006/relationships/slideLayout" Target="/ppt/slideLayouts/slideLayout4.xml" Id="Rb8a0c5eead0547b9" /><Relationship Type="http://schemas.openxmlformats.org/officeDocument/2006/relationships/slideLayout" Target="/ppt/slideLayouts/slideLayout5.xml" Id="R2453324e3c04473b" /><Relationship Type="http://schemas.openxmlformats.org/officeDocument/2006/relationships/slideLayout" Target="/ppt/slideLayouts/slideLayout6.xml" Id="Ra4df0e6c48b347f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f398a1d42194a8f"/>
    <p:sldLayoutId xmlns:r="http://schemas.openxmlformats.org/officeDocument/2006/relationships" id="2147483650" r:id="R91cdce54269341e5"/>
    <p:sldLayoutId xmlns:r="http://schemas.openxmlformats.org/officeDocument/2006/relationships" id="2147483651" r:id="R8bd05386b096427e"/>
    <p:sldLayoutId xmlns:r="http://schemas.openxmlformats.org/officeDocument/2006/relationships" id="2147483652" r:id="Rb8a0c5eead0547b9"/>
    <p:sldLayoutId xmlns:r="http://schemas.openxmlformats.org/officeDocument/2006/relationships" id="2147483653" r:id="R2453324e3c04473b"/>
    <p:sldLayoutId xmlns:r="http://schemas.openxmlformats.org/officeDocument/2006/relationships" id="2147483654" r:id="Ra4df0e6c48b347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b1c5b033f794b4c" /><Relationship Type="http://schemas.openxmlformats.org/officeDocument/2006/relationships/notesSlide" Target="/ppt/notesSlides/notesSlide1.xml" Id="R20f3804f57a04c8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3afe05cc0aa42a4" /><Relationship Type="http://schemas.openxmlformats.org/officeDocument/2006/relationships/notesSlide" Target="/ppt/notesSlides/notesSlide2.xml" Id="R9c392cc908b84b6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5ca1de2fbd749ba" /><Relationship Type="http://schemas.openxmlformats.org/officeDocument/2006/relationships/image" Target="/ppt/media/image.jpeg" Id="Rc4b054b3ccc84ad2" /><Relationship Type="http://schemas.openxmlformats.org/officeDocument/2006/relationships/notesSlide" Target="/ppt/notesSlides/notesSlide3.xml" Id="Ra61f73807a4c4f0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0becf58ecec473d" /><Relationship Type="http://schemas.openxmlformats.org/officeDocument/2006/relationships/image" Target="/ppt/media/image.png" Id="R74a871a6b3ac4944" /><Relationship Type="http://schemas.openxmlformats.org/officeDocument/2006/relationships/notesSlide" Target="/ppt/notesSlides/notesSlide4.xml" Id="R6ace716e3cf24c0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8e4970680bc4bce" /><Relationship Type="http://schemas.openxmlformats.org/officeDocument/2006/relationships/image" Target="/ppt/media/image2.png" Id="R9e8ce944e8994d5a" /><Relationship Type="http://schemas.openxmlformats.org/officeDocument/2006/relationships/notesSlide" Target="/ppt/notesSlides/notesSlide5.xml" Id="Rb8e9a2f2f39c46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bf1360cd4794ec3" /><Relationship Type="http://schemas.openxmlformats.org/officeDocument/2006/relationships/image" Target="/ppt/media/image3.png" Id="R9881af4aae954c09" /><Relationship Type="http://schemas.openxmlformats.org/officeDocument/2006/relationships/notesSlide" Target="/ppt/notesSlides/notesSlide6.xml" Id="R9c25349455b040c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df99af3d2ef40c8" /><Relationship Type="http://schemas.openxmlformats.org/officeDocument/2006/relationships/image" Target="/ppt/media/image4.png" Id="Rb849c49fd20c41c2" /><Relationship Type="http://schemas.openxmlformats.org/officeDocument/2006/relationships/image" Target="/ppt/media/image5.png" Id="Rffe1114725404213" /><Relationship Type="http://schemas.openxmlformats.org/officeDocument/2006/relationships/notesSlide" Target="/ppt/notesSlides/notesSlide7.xml" Id="R103f1995bc2a4b2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b528229f90e4cfe" /><Relationship Type="http://schemas.openxmlformats.org/officeDocument/2006/relationships/notesSlide" Target="/ppt/notesSlides/notesSlide8.xml" Id="Rc820327eee5549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41d53486cd740b6" /><Relationship Type="http://schemas.openxmlformats.org/officeDocument/2006/relationships/image" Target="/ppt/media/image2.jpeg" Id="Rf75303092f3a4758" /><Relationship Type="http://schemas.openxmlformats.org/officeDocument/2006/relationships/notesSlide" Target="/ppt/notesSlides/notesSlide9.xml" Id="R9275a54da21b45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4ad4e84694247c6" /><Relationship Type="http://schemas.openxmlformats.org/officeDocument/2006/relationships/notesSlide" Target="/ppt/notesSlides/notesSlide10.xml" Id="R4d54627089e34460" /></Relationships>
</file>

<file path=ppt/slides/slide1.xml><?xml version="1.0" encoding="utf-8"?>
<p:sld xmlns:p="http://schemas.openxmlformats.org/presentationml/2006/main">
  <p:cSld>
    <p:bg>
      <p:bgPr>
        <a:solidFill xmlns:a="http://schemas.openxmlformats.org/drawingml/2006/main">
          <a:srgbClr val="102637"/>
        </a:solidFill>
      </p:bgPr>
    </p:bg>
    <p:spTree>
      <p:nvGrpSpPr>
        <p:cNvPr id="1" name=""/>
        <p:cNvGrpSpPr/>
        <p:nvPr/>
      </p:nvGrpSpPr>
      <p:grpSpPr>
        <a:xfrm xmlns:a="http://schemas.openxmlformats.org/drawingml/2006/main"/>
      </p:grpSpPr>
      <p:sp>
        <p:nvSpPr>
          <p:cNvPr id="5" name="Rigoberto&#10;Cortez">
            <a:extLst xmlns:a="http://schemas.openxmlformats.org/drawingml/2006/main">
              <a:ext uri="{FF2B5EF4-FFF2-40B4-BE49-F238E27FC236}">
                <a16:creationId xmlns:a16="http://schemas.microsoft.com/office/drawing/2014/main" id="{82A44987-E76A-4C4A-A4B4-E5FF436B8145}"/>
              </a:ext>
            </a:extLst>
          </p:cNvPr>
          <p:cNvSpPr>
            <a:spLocks xmlns:a="http://schemas.openxmlformats.org/drawingml/2006/main" noGrp="1"/>
          </p:cNvSpPr>
          <p:nvPr/>
        </p:nvSpPr>
        <p:spPr>
          <a:xfrm xmlns:a="http://schemas.openxmlformats.org/drawingml/2006/main">
            <a:off x="609600" y="1190625"/>
            <a:ext cx="10477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FFFFFF"/>
                </a:solidFill>
                <a:latin typeface="DejaVu Sans"/>
                <a:ea typeface="DejaVu Sans"/>
                <a:cs typeface="DejaVu Sans"/>
              </a:defRPr>
            </a:pPr>
            <a:r>
              <a:rPr sz="5850" b="1">
                <a:solidFill>
                  <a:srgbClr val="FFFFFF"/>
                </a:solidFill>
                <a:latin typeface="DejaVu Sans"/>
                <a:ea typeface="DejaVu Sans"/>
                <a:cs typeface="DejaVu Sans"/>
              </a:rPr>
              <a:t>Rigoberto</a:t>
            </a:r>
          </a:p>
          <a:p xmlns:a="http://schemas.openxmlformats.org/drawingml/2006/main">
            <a:pPr>
              <a:defRPr sz="5850" b="1">
                <a:solidFill>
                  <a:srgbClr val="FFFFFF"/>
                </a:solidFill>
                <a:latin typeface="DejaVu Sans"/>
                <a:ea typeface="DejaVu Sans"/>
                <a:cs typeface="DejaVu Sans"/>
              </a:defRPr>
            </a:pPr>
            <a:r>
              <a:rPr sz="5850" b="1">
                <a:solidFill>
                  <a:srgbClr val="FFFFFF"/>
                </a:solidFill>
                <a:latin typeface="DejaVu Sans"/>
                <a:ea typeface="DejaVu Sans"/>
                <a:cs typeface="DejaVu Sans"/>
              </a:rPr>
              <a:t>Cortez</a:t>
            </a:r>
          </a:p>
        </p:txBody>
      </p:sp>
      <p:sp>
        <p:nvSpPr>
          <p:cNvPr id="2" name="ENGINEERING PORTFOLIO">
            <a:extLst xmlns:a="http://schemas.openxmlformats.org/drawingml/2006/main">
              <a:ext uri="{FF2B5EF4-FFF2-40B4-BE49-F238E27FC236}">
                <a16:creationId xmlns:a16="http://schemas.microsoft.com/office/drawing/2014/main" id="{B64A0D61-743E-406C-9EFB-EE33A4363515}"/>
              </a:ext>
            </a:extLst>
          </p:cNvPr>
          <p:cNvSpPr>
            <a:spLocks xmlns:a="http://schemas.openxmlformats.org/drawingml/2006/main" noGrp="1"/>
          </p:cNvSpPr>
          <p:nvPr/>
        </p:nvSpPr>
        <p:spPr>
          <a:xfrm xmlns:a="http://schemas.openxmlformats.org/drawingml/2006/main">
            <a:off x="657225" y="61912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7BC8C3"/>
                </a:solidFill>
                <a:latin typeface="DejaVu Sans"/>
                <a:ea typeface="DejaVu Sans"/>
                <a:cs typeface="DejaVu Sans"/>
              </a:defRPr>
            </a:pPr>
            <a:r>
              <a:rPr sz="1725" b="0">
                <a:solidFill>
                  <a:srgbClr val="7BC8C3"/>
                </a:solidFill>
                <a:latin typeface="DejaVu Sans"/>
                <a:ea typeface="DejaVu Sans"/>
                <a:cs typeface="DejaVu Sans"/>
              </a:rPr>
              <a:t>ENGINEERING PORTFOLIO</a:t>
            </a:r>
          </a:p>
        </p:txBody>
      </p:sp>
      <p:sp>
        <p:nvSpPr>
          <p:cNvPr id="3" name="Electrical Engineering&#10;University of Californ">
            <a:extLst xmlns:a="http://schemas.openxmlformats.org/drawingml/2006/main">
              <a:ext uri="{FF2B5EF4-FFF2-40B4-BE49-F238E27FC236}">
                <a16:creationId xmlns:a16="http://schemas.microsoft.com/office/drawing/2014/main" id="{94BE0E74-4918-46DD-AE98-EB300352BB10}"/>
              </a:ext>
            </a:extLst>
          </p:cNvPr>
          <p:cNvSpPr>
            <a:spLocks xmlns:a="http://schemas.openxmlformats.org/drawingml/2006/main" noGrp="1"/>
          </p:cNvSpPr>
          <p:nvPr/>
        </p:nvSpPr>
        <p:spPr>
          <a:xfrm xmlns:a="http://schemas.openxmlformats.org/drawingml/2006/main">
            <a:off x="657225" y="3638550"/>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DEE7EA"/>
                </a:solidFill>
                <a:latin typeface="DejaVu Sans"/>
                <a:ea typeface="DejaVu Sans"/>
                <a:cs typeface="DejaVu Sans"/>
              </a:defRPr>
            </a:pPr>
            <a:r>
              <a:rPr sz="2250" b="0">
                <a:solidFill>
                  <a:srgbClr val="DEE7EA"/>
                </a:solidFill>
                <a:latin typeface="DejaVu Sans"/>
                <a:ea typeface="DejaVu Sans"/>
                <a:cs typeface="DejaVu Sans"/>
              </a:rPr>
              <a:t>Electrical Engineering</a:t>
            </a:r>
          </a:p>
          <a:p xmlns:a="http://schemas.openxmlformats.org/drawingml/2006/main">
            <a:pPr>
              <a:defRPr sz="2250" b="0">
                <a:solidFill>
                  <a:srgbClr val="DEE7EA"/>
                </a:solidFill>
                <a:latin typeface="DejaVu Sans"/>
                <a:ea typeface="DejaVu Sans"/>
                <a:cs typeface="DejaVu Sans"/>
              </a:defRPr>
            </a:pPr>
            <a:r>
              <a:rPr sz="2250" b="0">
                <a:solidFill>
                  <a:srgbClr val="DEE7EA"/>
                </a:solidFill>
                <a:latin typeface="DejaVu Sans"/>
                <a:ea typeface="DejaVu Sans"/>
                <a:cs typeface="DejaVu Sans"/>
              </a:rPr>
              <a:t>University of California San Diego</a:t>
            </a:r>
          </a:p>
        </p:txBody>
      </p:sp>
      <p:sp>
        <p:nvSpPr>
          <p:cNvPr id="4" name="Embedded systems, computer vision, and physic">
            <a:extLst xmlns:a="http://schemas.openxmlformats.org/drawingml/2006/main">
              <a:ext uri="{FF2B5EF4-FFF2-40B4-BE49-F238E27FC236}">
                <a16:creationId xmlns:a16="http://schemas.microsoft.com/office/drawing/2014/main" id="{AC9407AF-A0E9-4241-BDEE-AECE4AD5246A}"/>
              </a:ext>
            </a:extLst>
          </p:cNvPr>
          <p:cNvSpPr>
            <a:spLocks xmlns:a="http://schemas.openxmlformats.org/drawingml/2006/main" noGrp="1"/>
          </p:cNvSpPr>
          <p:nvPr/>
        </p:nvSpPr>
        <p:spPr>
          <a:xfrm xmlns:a="http://schemas.openxmlformats.org/drawingml/2006/main">
            <a:off x="657225" y="52863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B9C9D0"/>
                </a:solidFill>
                <a:latin typeface="DejaVu Sans"/>
                <a:ea typeface="DejaVu Sans"/>
                <a:cs typeface="DejaVu Sans"/>
              </a:defRPr>
            </a:pPr>
            <a:r>
              <a:rPr sz="2025" b="0">
                <a:solidFill>
                  <a:srgbClr val="B9C9D0"/>
                </a:solidFill>
                <a:latin typeface="DejaVu Sans"/>
                <a:ea typeface="DejaVu Sans"/>
                <a:cs typeface="DejaVu Sans"/>
              </a:rPr>
              <a:t>Embedded systems, computer vision, and physical prototypes</a:t>
            </a:r>
          </a:p>
        </p:txBody>
      </p:sp>
    </p:spTree>
    <p:extLst>
      <p:ext uri="{BB962C8B-B14F-4D97-AF65-F5344CB8AC3E}">
        <p14:creationId xmlns:p14="http://schemas.microsoft.com/office/powerpoint/2010/main" val="1081660763"/>
      </p:ext>
    </p:extLst>
  </p:cSld>
</p:sld>
</file>

<file path=ppt/slides/slide2.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9" name="Chess move tracking camera">
            <a:extLst xmlns:a="http://schemas.openxmlformats.org/drawingml/2006/main">
              <a:ext uri="{FF2B5EF4-FFF2-40B4-BE49-F238E27FC236}">
                <a16:creationId xmlns:a16="http://schemas.microsoft.com/office/drawing/2014/main" id="{3FAD9982-B31D-4EBE-94AD-5B0B6C7ABFDA}"/>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02637"/>
                </a:solidFill>
                <a:latin typeface="DejaVu Sans"/>
                <a:ea typeface="DejaVu Sans"/>
                <a:cs typeface="DejaVu Sans"/>
              </a:defRPr>
            </a:pPr>
            <a:r>
              <a:rPr sz="3450" b="1">
                <a:solidFill>
                  <a:srgbClr val="102637"/>
                </a:solidFill>
                <a:latin typeface="DejaVu Sans"/>
                <a:ea typeface="DejaVu Sans"/>
                <a:cs typeface="DejaVu Sans"/>
              </a:rPr>
              <a:t>Chess move tracking camera</a:t>
            </a:r>
          </a:p>
        </p:txBody>
      </p:sp>
      <p:sp>
        <p:nvSpPr>
          <p:cNvPr id="2" name="SPIS 2026 · Working team project">
            <a:extLst xmlns:a="http://schemas.openxmlformats.org/drawingml/2006/main">
              <a:ext uri="{FF2B5EF4-FFF2-40B4-BE49-F238E27FC236}">
                <a16:creationId xmlns:a16="http://schemas.microsoft.com/office/drawing/2014/main" id="{01209222-E700-463A-A911-DEF49263D144}"/>
              </a:ext>
            </a:extLst>
          </p:cNvPr>
          <p:cNvSpPr>
            <a:spLocks xmlns:a="http://schemas.openxmlformats.org/drawingml/2006/main" noGrp="1"/>
          </p:cNvSpPr>
          <p:nvPr/>
        </p:nvSpPr>
        <p:spPr>
          <a:xfrm xmlns:a="http://schemas.openxmlformats.org/drawingml/2006/main">
            <a:off x="609600" y="1190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47F80"/>
                </a:solidFill>
                <a:latin typeface="DejaVu Sans"/>
                <a:ea typeface="DejaVu Sans"/>
                <a:cs typeface="DejaVu Sans"/>
              </a:defRPr>
            </a:pPr>
            <a:r>
              <a:rPr sz="1650" b="0">
                <a:solidFill>
                  <a:srgbClr val="147F80"/>
                </a:solidFill>
                <a:latin typeface="DejaVu Sans"/>
                <a:ea typeface="DejaVu Sans"/>
                <a:cs typeface="DejaVu Sans"/>
              </a:rPr>
              <a:t>SPIS 2026 · Working team project</a:t>
            </a:r>
          </a:p>
        </p:txBody>
      </p:sp>
      <p:sp>
        <p:nvSpPr>
          <p:cNvPr id="3" name="Visual changes + known board state">
            <a:extLst xmlns:a="http://schemas.openxmlformats.org/drawingml/2006/main">
              <a:ext uri="{FF2B5EF4-FFF2-40B4-BE49-F238E27FC236}">
                <a16:creationId xmlns:a16="http://schemas.microsoft.com/office/drawing/2014/main" id="{6BD421D3-2DFB-45CC-99CA-2C33283017E9}"/>
              </a:ext>
            </a:extLst>
          </p:cNvPr>
          <p:cNvSpPr>
            <a:spLocks xmlns:a="http://schemas.openxmlformats.org/drawingml/2006/main" noGrp="1"/>
          </p:cNvSpPr>
          <p:nvPr/>
        </p:nvSpPr>
        <p:spPr>
          <a:xfrm xmlns:a="http://schemas.openxmlformats.org/drawingml/2006/main">
            <a:off x="609600" y="2000250"/>
            <a:ext cx="1057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02637"/>
                </a:solidFill>
                <a:latin typeface="DejaVu Sans"/>
                <a:ea typeface="DejaVu Sans"/>
                <a:cs typeface="DejaVu Sans"/>
              </a:defRPr>
            </a:pPr>
            <a:r>
              <a:rPr sz="3000" b="1">
                <a:solidFill>
                  <a:srgbClr val="102637"/>
                </a:solidFill>
                <a:latin typeface="DejaVu Sans"/>
                <a:ea typeface="DejaVu Sans"/>
                <a:cs typeface="DejaVu Sans"/>
              </a:rPr>
              <a:t>Visual changes + known board state</a:t>
            </a:r>
          </a:p>
        </p:txBody>
      </p:sp>
      <p:sp>
        <p:nvSpPr>
          <p:cNvPr id="4" name="Calibrated square geometry links image locati">
            <a:extLst xmlns:a="http://schemas.openxmlformats.org/drawingml/2006/main">
              <a:ext uri="{FF2B5EF4-FFF2-40B4-BE49-F238E27FC236}">
                <a16:creationId xmlns:a16="http://schemas.microsoft.com/office/drawing/2014/main" id="{1050CDFF-014A-4FF4-9BE1-5213DE31F463}"/>
              </a:ext>
            </a:extLst>
          </p:cNvPr>
          <p:cNvSpPr>
            <a:spLocks xmlns:a="http://schemas.openxmlformats.org/drawingml/2006/main" noGrp="1"/>
          </p:cNvSpPr>
          <p:nvPr/>
        </p:nvSpPr>
        <p:spPr>
          <a:xfrm xmlns:a="http://schemas.openxmlformats.org/drawingml/2006/main">
            <a:off x="609600" y="28194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4C626E"/>
                </a:solidFill>
                <a:latin typeface="DejaVu Sans"/>
                <a:ea typeface="DejaVu Sans"/>
                <a:cs typeface="DejaVu Sans"/>
              </a:defRPr>
            </a:pPr>
            <a:r>
              <a:rPr sz="2175" b="0">
                <a:solidFill>
                  <a:srgbClr val="4C626E"/>
                </a:solidFill>
                <a:latin typeface="DejaVu Sans"/>
                <a:ea typeface="DejaVu Sans"/>
                <a:cs typeface="DejaVu Sans"/>
              </a:rPr>
              <a:t>Calibrated square geometry links image locations to the board.</a:t>
            </a:r>
          </a:p>
          <a:p xmlns:a="http://schemas.openxmlformats.org/drawingml/2006/main">
            <a:pPr>
              <a:defRPr sz="2175" b="0">
                <a:solidFill>
                  <a:srgbClr val="4C626E"/>
                </a:solidFill>
                <a:latin typeface="DejaVu Sans"/>
                <a:ea typeface="DejaVu Sans"/>
                <a:cs typeface="DejaVu Sans"/>
              </a:defRPr>
            </a:pPr>
            <a:r>
              <a:rPr sz="2175" b="0">
                <a:solidFill>
                  <a:srgbClr val="4C626E"/>
                </a:solidFill>
                <a:latin typeface="DejaVu Sans"/>
                <a:ea typeface="DejaVu Sans"/>
                <a:cs typeface="DejaVu Sans"/>
              </a:rPr>
              <a:t>The previous game state and chess constraints narrow candidate moves.</a:t>
            </a:r>
          </a:p>
        </p:txBody>
      </p:sp>
      <p:sp>
        <p:nvSpPr>
          <p:cNvPr id="5" name="Testing under disturbances">
            <a:extLst xmlns:a="http://schemas.openxmlformats.org/drawingml/2006/main">
              <a:ext uri="{FF2B5EF4-FFF2-40B4-BE49-F238E27FC236}">
                <a16:creationId xmlns:a16="http://schemas.microsoft.com/office/drawing/2014/main" id="{9E6BDF7A-6720-49A6-B84B-80E7443A8CAF}"/>
              </a:ext>
            </a:extLst>
          </p:cNvPr>
          <p:cNvSpPr>
            <a:spLocks xmlns:a="http://schemas.openxmlformats.org/drawingml/2006/main" noGrp="1"/>
          </p:cNvSpPr>
          <p:nvPr/>
        </p:nvSpPr>
        <p:spPr>
          <a:xfrm xmlns:a="http://schemas.openxmlformats.org/drawingml/2006/main">
            <a:off x="609600" y="43148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F80"/>
                </a:solidFill>
                <a:latin typeface="DejaVu Sans"/>
                <a:ea typeface="DejaVu Sans"/>
                <a:cs typeface="DejaVu Sans"/>
              </a:defRPr>
            </a:pPr>
            <a:r>
              <a:rPr sz="2100" b="1">
                <a:solidFill>
                  <a:srgbClr val="147F80"/>
                </a:solidFill>
                <a:latin typeface="DejaVu Sans"/>
                <a:ea typeface="DejaVu Sans"/>
                <a:cs typeface="DejaVu Sans"/>
              </a:rPr>
              <a:t>Testing under disturbances</a:t>
            </a:r>
          </a:p>
        </p:txBody>
      </p:sp>
      <p:sp>
        <p:nvSpPr>
          <p:cNvPr id="6" name="We tested shadows, camera shaking, bumped pie">
            <a:extLst xmlns:a="http://schemas.openxmlformats.org/drawingml/2006/main">
              <a:ext uri="{FF2B5EF4-FFF2-40B4-BE49-F238E27FC236}">
                <a16:creationId xmlns:a16="http://schemas.microsoft.com/office/drawing/2014/main" id="{2AF2DFDA-72C6-43F9-BB08-135FDE1910E1}"/>
              </a:ext>
            </a:extLst>
          </p:cNvPr>
          <p:cNvSpPr>
            <a:spLocks xmlns:a="http://schemas.openxmlformats.org/drawingml/2006/main" noGrp="1"/>
          </p:cNvSpPr>
          <p:nvPr/>
        </p:nvSpPr>
        <p:spPr>
          <a:xfrm xmlns:a="http://schemas.openxmlformats.org/drawingml/2006/main">
            <a:off x="609600" y="4800600"/>
            <a:ext cx="5238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4C626E"/>
                </a:solidFill>
                <a:latin typeface="DejaVu Sans"/>
                <a:ea typeface="DejaVu Sans"/>
                <a:cs typeface="DejaVu Sans"/>
              </a:defRPr>
            </a:pPr>
            <a:r>
              <a:rPr sz="1950" b="0">
                <a:solidFill>
                  <a:srgbClr val="4C626E"/>
                </a:solidFill>
                <a:latin typeface="DejaVu Sans"/>
                <a:ea typeface="DejaVu Sans"/>
                <a:cs typeface="DejaVu Sans"/>
              </a:rPr>
              <a:t>We tested shadows, camera shaking, bumped pieces, and imperfect placement.</a:t>
            </a:r>
          </a:p>
        </p:txBody>
      </p:sp>
      <p:sp>
        <p:nvSpPr>
          <p:cNvPr id="7" name="Next step">
            <a:extLst xmlns:a="http://schemas.openxmlformats.org/drawingml/2006/main">
              <a:ext uri="{FF2B5EF4-FFF2-40B4-BE49-F238E27FC236}">
                <a16:creationId xmlns:a16="http://schemas.microsoft.com/office/drawing/2014/main" id="{EC407C77-4FA5-4A4A-8B60-8F6A2AC868E4}"/>
              </a:ext>
            </a:extLst>
          </p:cNvPr>
          <p:cNvSpPr>
            <a:spLocks xmlns:a="http://schemas.openxmlformats.org/drawingml/2006/main" noGrp="1"/>
          </p:cNvSpPr>
          <p:nvPr/>
        </p:nvSpPr>
        <p:spPr>
          <a:xfrm xmlns:a="http://schemas.openxmlformats.org/drawingml/2006/main">
            <a:off x="6667500" y="43148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F80"/>
                </a:solidFill>
                <a:latin typeface="DejaVu Sans"/>
                <a:ea typeface="DejaVu Sans"/>
                <a:cs typeface="DejaVu Sans"/>
              </a:defRPr>
            </a:pPr>
            <a:r>
              <a:rPr sz="2100" b="1">
                <a:solidFill>
                  <a:srgbClr val="147F80"/>
                </a:solidFill>
                <a:latin typeface="DejaVu Sans"/>
                <a:ea typeface="DejaVu Sans"/>
                <a:cs typeface="DejaVu Sans"/>
              </a:rPr>
              <a:t>Next step</a:t>
            </a:r>
          </a:p>
        </p:txBody>
      </p:sp>
      <p:sp>
        <p:nvSpPr>
          <p:cNvPr id="8" name="Preserve labeled trials and source code so th">
            <a:extLst xmlns:a="http://schemas.openxmlformats.org/drawingml/2006/main">
              <a:ext uri="{FF2B5EF4-FFF2-40B4-BE49-F238E27FC236}">
                <a16:creationId xmlns:a16="http://schemas.microsoft.com/office/drawing/2014/main" id="{EB00BA69-126E-4EC2-8A15-717312DCA00A}"/>
              </a:ext>
            </a:extLst>
          </p:cNvPr>
          <p:cNvSpPr>
            <a:spLocks xmlns:a="http://schemas.openxmlformats.org/drawingml/2006/main" noGrp="1"/>
          </p:cNvSpPr>
          <p:nvPr/>
        </p:nvSpPr>
        <p:spPr>
          <a:xfrm xmlns:a="http://schemas.openxmlformats.org/drawingml/2006/main">
            <a:off x="6667500" y="4800600"/>
            <a:ext cx="4762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4C626E"/>
                </a:solidFill>
                <a:latin typeface="DejaVu Sans"/>
                <a:ea typeface="DejaVu Sans"/>
                <a:cs typeface="DejaVu Sans"/>
              </a:defRPr>
            </a:pPr>
            <a:r>
              <a:rPr sz="1950" b="0">
                <a:solidFill>
                  <a:srgbClr val="4C626E"/>
                </a:solidFill>
                <a:latin typeface="DejaVu Sans"/>
                <a:ea typeface="DejaVu Sans"/>
                <a:cs typeface="DejaVu Sans"/>
              </a:rPr>
              <a:t>Preserve labeled trials and source code so the result can be reproduced.</a:t>
            </a:r>
          </a:p>
        </p:txBody>
      </p:sp>
    </p:spTree>
    <p:extLst>
      <p:ext uri="{BB962C8B-B14F-4D97-AF65-F5344CB8AC3E}">
        <p14:creationId xmlns:p14="http://schemas.microsoft.com/office/powerpoint/2010/main" val="1050409169"/>
      </p:ext>
    </p:extLst>
  </p:cSld>
</p:sld>
</file>

<file path=ppt/slides/slide3.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0" name="Tracked line-following robot">
            <a:extLst xmlns:a="http://schemas.openxmlformats.org/drawingml/2006/main">
              <a:ext uri="{FF2B5EF4-FFF2-40B4-BE49-F238E27FC236}">
                <a16:creationId xmlns:a16="http://schemas.microsoft.com/office/drawing/2014/main" id="{3DBCD201-6D57-434C-A2CB-C1A9F34D7309}"/>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02637"/>
                </a:solidFill>
                <a:latin typeface="DejaVu Sans"/>
                <a:ea typeface="DejaVu Sans"/>
                <a:cs typeface="DejaVu Sans"/>
              </a:defRPr>
            </a:pPr>
            <a:r>
              <a:rPr sz="3450" b="1">
                <a:solidFill>
                  <a:srgbClr val="102637"/>
                </a:solidFill>
                <a:latin typeface="DejaVu Sans"/>
                <a:ea typeface="DejaVu Sans"/>
                <a:cs typeface="DejaVu Sans"/>
              </a:rPr>
              <a:t>Tracked line-following robot</a:t>
            </a:r>
          </a:p>
        </p:txBody>
      </p:sp>
      <p:sp>
        <p:nvSpPr>
          <p:cNvPr id="2" name="PLTW 2024 · Team hardware prototype">
            <a:extLst xmlns:a="http://schemas.openxmlformats.org/drawingml/2006/main">
              <a:ext uri="{FF2B5EF4-FFF2-40B4-BE49-F238E27FC236}">
                <a16:creationId xmlns:a16="http://schemas.microsoft.com/office/drawing/2014/main" id="{DE9DE919-499D-4EA1-84FB-0C7B6B425F93}"/>
              </a:ext>
            </a:extLst>
          </p:cNvPr>
          <p:cNvSpPr>
            <a:spLocks xmlns:a="http://schemas.openxmlformats.org/drawingml/2006/main" noGrp="1"/>
          </p:cNvSpPr>
          <p:nvPr/>
        </p:nvSpPr>
        <p:spPr>
          <a:xfrm xmlns:a="http://schemas.openxmlformats.org/drawingml/2006/main">
            <a:off x="609600" y="1190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47F80"/>
                </a:solidFill>
                <a:latin typeface="DejaVu Sans"/>
                <a:ea typeface="DejaVu Sans"/>
                <a:cs typeface="DejaVu Sans"/>
              </a:defRPr>
            </a:pPr>
            <a:r>
              <a:rPr sz="1650" b="0">
                <a:solidFill>
                  <a:srgbClr val="147F80"/>
                </a:solidFill>
                <a:latin typeface="DejaVu Sans"/>
                <a:ea typeface="DejaVu Sans"/>
                <a:cs typeface="DejaVu Sans"/>
              </a:rPr>
              <a:t>PLTW 2024 · Team hardware prototype</a:t>
            </a:r>
          </a:p>
        </p:txBody>
      </p:sp>
      <p:sp>
        <p:nvSpPr>
          <p:cNvPr id="3" name="Hardware">
            <a:extLst xmlns:a="http://schemas.openxmlformats.org/drawingml/2006/main">
              <a:ext uri="{FF2B5EF4-FFF2-40B4-BE49-F238E27FC236}">
                <a16:creationId xmlns:a16="http://schemas.microsoft.com/office/drawing/2014/main" id="{837EE370-1D43-48DD-BCA2-0C8D4FD67656}"/>
              </a:ext>
            </a:extLst>
          </p:cNvPr>
          <p:cNvSpPr>
            <a:spLocks xmlns:a="http://schemas.openxmlformats.org/drawingml/2006/main" noGrp="1"/>
          </p:cNvSpPr>
          <p:nvPr/>
        </p:nvSpPr>
        <p:spPr>
          <a:xfrm xmlns:a="http://schemas.openxmlformats.org/drawingml/2006/main">
            <a:off x="609600" y="1847850"/>
            <a:ext cx="4333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Hardware</a:t>
            </a:r>
          </a:p>
        </p:txBody>
      </p:sp>
      <p:sp>
        <p:nvSpPr>
          <p:cNvPr id="4" name="VEX Cortex, two motors, tracks, three line tr">
            <a:extLst xmlns:a="http://schemas.openxmlformats.org/drawingml/2006/main">
              <a:ext uri="{FF2B5EF4-FFF2-40B4-BE49-F238E27FC236}">
                <a16:creationId xmlns:a16="http://schemas.microsoft.com/office/drawing/2014/main" id="{2A2297B4-42D7-48DB-86C8-E6F30F44C530}"/>
              </a:ext>
            </a:extLst>
          </p:cNvPr>
          <p:cNvSpPr>
            <a:spLocks xmlns:a="http://schemas.openxmlformats.org/drawingml/2006/main" noGrp="1"/>
          </p:cNvSpPr>
          <p:nvPr/>
        </p:nvSpPr>
        <p:spPr>
          <a:xfrm xmlns:a="http://schemas.openxmlformats.org/drawingml/2006/main">
            <a:off x="609600" y="2257425"/>
            <a:ext cx="4333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VEX Cortex, two motors, tracks, three line trackers, and ultrasonic sensing.</a:t>
            </a:r>
          </a:p>
        </p:txBody>
      </p:sp>
      <p:sp>
        <p:nvSpPr>
          <p:cNvPr id="5" name="Integration">
            <a:extLst xmlns:a="http://schemas.openxmlformats.org/drawingml/2006/main">
              <a:ext uri="{FF2B5EF4-FFF2-40B4-BE49-F238E27FC236}">
                <a16:creationId xmlns:a16="http://schemas.microsoft.com/office/drawing/2014/main" id="{C326964B-266C-4738-912B-06416B53DF12}"/>
              </a:ext>
            </a:extLst>
          </p:cNvPr>
          <p:cNvSpPr>
            <a:spLocks xmlns:a="http://schemas.openxmlformats.org/drawingml/2006/main" noGrp="1"/>
          </p:cNvSpPr>
          <p:nvPr/>
        </p:nvSpPr>
        <p:spPr>
          <a:xfrm xmlns:a="http://schemas.openxmlformats.org/drawingml/2006/main">
            <a:off x="609600" y="3371850"/>
            <a:ext cx="4333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Integration</a:t>
            </a:r>
          </a:p>
        </p:txBody>
      </p:sp>
      <p:sp>
        <p:nvSpPr>
          <p:cNvPr id="6" name="Built the chassis and integrated sensors, swi">
            <a:extLst xmlns:a="http://schemas.openxmlformats.org/drawingml/2006/main">
              <a:ext uri="{FF2B5EF4-FFF2-40B4-BE49-F238E27FC236}">
                <a16:creationId xmlns:a16="http://schemas.microsoft.com/office/drawing/2014/main" id="{EA43C4CC-941C-4E61-AF22-0B354E59330E}"/>
              </a:ext>
            </a:extLst>
          </p:cNvPr>
          <p:cNvSpPr>
            <a:spLocks xmlns:a="http://schemas.openxmlformats.org/drawingml/2006/main" noGrp="1"/>
          </p:cNvSpPr>
          <p:nvPr/>
        </p:nvSpPr>
        <p:spPr>
          <a:xfrm xmlns:a="http://schemas.openxmlformats.org/drawingml/2006/main">
            <a:off x="609600" y="3781425"/>
            <a:ext cx="4333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Built the chassis and integrated sensors, switching, and wiring. RobotC control work remained incomplete.</a:t>
            </a:r>
          </a:p>
        </p:txBody>
      </p:sp>
      <p:sp>
        <p:nvSpPr>
          <p:cNvPr id="7" name="Lesson">
            <a:extLst xmlns:a="http://schemas.openxmlformats.org/drawingml/2006/main">
              <a:ext uri="{FF2B5EF4-FFF2-40B4-BE49-F238E27FC236}">
                <a16:creationId xmlns:a16="http://schemas.microsoft.com/office/drawing/2014/main" id="{ED52F25B-9C00-4B94-BD90-FC143917871D}"/>
              </a:ext>
            </a:extLst>
          </p:cNvPr>
          <p:cNvSpPr>
            <a:spLocks xmlns:a="http://schemas.openxmlformats.org/drawingml/2006/main" noGrp="1"/>
          </p:cNvSpPr>
          <p:nvPr/>
        </p:nvSpPr>
        <p:spPr>
          <a:xfrm xmlns:a="http://schemas.openxmlformats.org/drawingml/2006/main">
            <a:off x="609600" y="4895850"/>
            <a:ext cx="4333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Lesson</a:t>
            </a:r>
          </a:p>
        </p:txBody>
      </p:sp>
      <p:sp>
        <p:nvSpPr>
          <p:cNvPr id="8" name="Start software trials before the mechanical b">
            <a:extLst xmlns:a="http://schemas.openxmlformats.org/drawingml/2006/main">
              <a:ext uri="{FF2B5EF4-FFF2-40B4-BE49-F238E27FC236}">
                <a16:creationId xmlns:a16="http://schemas.microsoft.com/office/drawing/2014/main" id="{F94C460D-CA61-404A-8911-3552235A00C6}"/>
              </a:ext>
            </a:extLst>
          </p:cNvPr>
          <p:cNvSpPr>
            <a:spLocks xmlns:a="http://schemas.openxmlformats.org/drawingml/2006/main" noGrp="1"/>
          </p:cNvSpPr>
          <p:nvPr/>
        </p:nvSpPr>
        <p:spPr>
          <a:xfrm xmlns:a="http://schemas.openxmlformats.org/drawingml/2006/main">
            <a:off x="609600" y="5305425"/>
            <a:ext cx="4333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Start software trials before the mechanical build is finished.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4b054b3ccc84ad2"/>
          <a:stretch xmlns:a="http://schemas.openxmlformats.org/drawingml/2006/main"/>
        </p:blipFill>
        <p:spPr>
          <a:xfrm xmlns:a="http://schemas.openxmlformats.org/drawingml/2006/main">
            <a:off x="5657850" y="1885950"/>
            <a:ext cx="5638800" cy="4229100"/>
          </a:xfrm>
          <a:prstGeom xmlns:a="http://schemas.openxmlformats.org/drawingml/2006/main" prst="rect">
            <a:avLst/>
          </a:prstGeom>
        </p:spPr>
      </p:pic>
    </p:spTree>
    <p:extLst>
      <p:ext uri="{BB962C8B-B14F-4D97-AF65-F5344CB8AC3E}">
        <p14:creationId xmlns:p14="http://schemas.microsoft.com/office/powerpoint/2010/main" val="956298379"/>
      </p:ext>
    </p:extLst>
  </p:cSld>
</p:sld>
</file>

<file path=ppt/slides/slide4.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0" name="Environment-adaptive speaker">
            <a:extLst xmlns:a="http://schemas.openxmlformats.org/drawingml/2006/main">
              <a:ext uri="{FF2B5EF4-FFF2-40B4-BE49-F238E27FC236}">
                <a16:creationId xmlns:a16="http://schemas.microsoft.com/office/drawing/2014/main" id="{A00A6290-9F0B-4177-8A31-FC71E253AA20}"/>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02637"/>
                </a:solidFill>
                <a:latin typeface="DejaVu Sans"/>
                <a:ea typeface="DejaVu Sans"/>
                <a:cs typeface="DejaVu Sans"/>
              </a:defRPr>
            </a:pPr>
            <a:r>
              <a:rPr sz="3450" b="1">
                <a:solidFill>
                  <a:srgbClr val="102637"/>
                </a:solidFill>
                <a:latin typeface="DejaVu Sans"/>
                <a:ea typeface="DejaVu Sans"/>
                <a:cs typeface="DejaVu Sans"/>
              </a:rPr>
              <a:t>Environment-adaptive speaker</a:t>
            </a:r>
          </a:p>
        </p:txBody>
      </p:sp>
      <p:sp>
        <p:nvSpPr>
          <p:cNvPr id="2" name="ECE Makerspace 2026 · Individual design propo">
            <a:extLst xmlns:a="http://schemas.openxmlformats.org/drawingml/2006/main">
              <a:ext uri="{FF2B5EF4-FFF2-40B4-BE49-F238E27FC236}">
                <a16:creationId xmlns:a16="http://schemas.microsoft.com/office/drawing/2014/main" id="{04863FA4-8CB3-4226-BAD5-E19DE632560C}"/>
              </a:ext>
            </a:extLst>
          </p:cNvPr>
          <p:cNvSpPr>
            <a:spLocks xmlns:a="http://schemas.openxmlformats.org/drawingml/2006/main" noGrp="1"/>
          </p:cNvSpPr>
          <p:nvPr/>
        </p:nvSpPr>
        <p:spPr>
          <a:xfrm xmlns:a="http://schemas.openxmlformats.org/drawingml/2006/main">
            <a:off x="609600" y="1190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47F80"/>
                </a:solidFill>
                <a:latin typeface="DejaVu Sans"/>
                <a:ea typeface="DejaVu Sans"/>
                <a:cs typeface="DejaVu Sans"/>
              </a:defRPr>
            </a:pPr>
            <a:r>
              <a:rPr sz="1650" b="0">
                <a:solidFill>
                  <a:srgbClr val="147F80"/>
                </a:solidFill>
                <a:latin typeface="DejaVu Sans"/>
                <a:ea typeface="DejaVu Sans"/>
                <a:cs typeface="DejaVu Sans"/>
              </a:rPr>
              <a:t>ECE Makerspace 2026 · Individual design proposal</a:t>
            </a:r>
          </a:p>
        </p:txBody>
      </p:sp>
      <p:sp>
        <p:nvSpPr>
          <p:cNvPr id="3" name="Enclosure concept">
            <a:extLst xmlns:a="http://schemas.openxmlformats.org/drawingml/2006/main">
              <a:ext uri="{FF2B5EF4-FFF2-40B4-BE49-F238E27FC236}">
                <a16:creationId xmlns:a16="http://schemas.microsoft.com/office/drawing/2014/main" id="{148D6128-3457-44E7-9921-27255ABBBD6D}"/>
              </a:ext>
            </a:extLst>
          </p:cNvPr>
          <p:cNvSpPr>
            <a:spLocks xmlns:a="http://schemas.openxmlformats.org/drawingml/2006/main" noGrp="1"/>
          </p:cNvSpPr>
          <p:nvPr/>
        </p:nvSpPr>
        <p:spPr>
          <a:xfrm xmlns:a="http://schemas.openxmlformats.org/drawingml/2006/main">
            <a:off x="609600" y="1847850"/>
            <a:ext cx="4362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Enclosure concept</a:t>
            </a:r>
          </a:p>
        </p:txBody>
      </p:sp>
      <p:sp>
        <p:nvSpPr>
          <p:cNvPr id="4" name="A 6 × 6 in base and 4.5 in height. Four posts">
            <a:extLst xmlns:a="http://schemas.openxmlformats.org/drawingml/2006/main">
              <a:ext uri="{FF2B5EF4-FFF2-40B4-BE49-F238E27FC236}">
                <a16:creationId xmlns:a16="http://schemas.microsoft.com/office/drawing/2014/main" id="{58B34949-5C6C-4847-999E-6D684C2A436D}"/>
              </a:ext>
            </a:extLst>
          </p:cNvPr>
          <p:cNvSpPr>
            <a:spLocks xmlns:a="http://schemas.openxmlformats.org/drawingml/2006/main" noGrp="1"/>
          </p:cNvSpPr>
          <p:nvPr/>
        </p:nvSpPr>
        <p:spPr>
          <a:xfrm xmlns:a="http://schemas.openxmlformats.org/drawingml/2006/main">
            <a:off x="609600" y="2257425"/>
            <a:ext cx="43624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A 6 × 6 in base and 4.5 in height. Four posts support the truncated pyramid frame.</a:t>
            </a:r>
          </a:p>
        </p:txBody>
      </p:sp>
      <p:sp>
        <p:nvSpPr>
          <p:cNvPr id="5" name="Adaptive behavior">
            <a:extLst xmlns:a="http://schemas.openxmlformats.org/drawingml/2006/main">
              <a:ext uri="{FF2B5EF4-FFF2-40B4-BE49-F238E27FC236}">
                <a16:creationId xmlns:a16="http://schemas.microsoft.com/office/drawing/2014/main" id="{14814913-25E1-4764-8DDB-EAD4B7982F2E}"/>
              </a:ext>
            </a:extLst>
          </p:cNvPr>
          <p:cNvSpPr>
            <a:spLocks xmlns:a="http://schemas.openxmlformats.org/drawingml/2006/main" noGrp="1"/>
          </p:cNvSpPr>
          <p:nvPr/>
        </p:nvSpPr>
        <p:spPr>
          <a:xfrm xmlns:a="http://schemas.openxmlformats.org/drawingml/2006/main">
            <a:off x="609600" y="3371850"/>
            <a:ext cx="4362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Adaptive behavior</a:t>
            </a:r>
          </a:p>
        </p:txBody>
      </p:sp>
      <p:sp>
        <p:nvSpPr>
          <p:cNvPr id="6" name="Each face would sense nearby obstructions and">
            <a:extLst xmlns:a="http://schemas.openxmlformats.org/drawingml/2006/main">
              <a:ext uri="{FF2B5EF4-FFF2-40B4-BE49-F238E27FC236}">
                <a16:creationId xmlns:a16="http://schemas.microsoft.com/office/drawing/2014/main" id="{F8CBBB7D-843B-403F-9ED7-B69D1D83A4A0}"/>
              </a:ext>
            </a:extLst>
          </p:cNvPr>
          <p:cNvSpPr>
            <a:spLocks xmlns:a="http://schemas.openxmlformats.org/drawingml/2006/main" noGrp="1"/>
          </p:cNvSpPr>
          <p:nvPr/>
        </p:nvSpPr>
        <p:spPr>
          <a:xfrm xmlns:a="http://schemas.openxmlformats.org/drawingml/2006/main">
            <a:off x="609600" y="3781425"/>
            <a:ext cx="43624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Each face would sense nearby obstructions and reduce its corresponding driver output.</a:t>
            </a:r>
          </a:p>
        </p:txBody>
      </p:sp>
      <p:sp>
        <p:nvSpPr>
          <p:cNvPr id="7" name="Completed work">
            <a:extLst xmlns:a="http://schemas.openxmlformats.org/drawingml/2006/main">
              <a:ext uri="{FF2B5EF4-FFF2-40B4-BE49-F238E27FC236}">
                <a16:creationId xmlns:a16="http://schemas.microsoft.com/office/drawing/2014/main" id="{9D32AC63-C375-4544-A96B-A5B16009842F}"/>
              </a:ext>
            </a:extLst>
          </p:cNvPr>
          <p:cNvSpPr>
            <a:spLocks xmlns:a="http://schemas.openxmlformats.org/drawingml/2006/main" noGrp="1"/>
          </p:cNvSpPr>
          <p:nvPr/>
        </p:nvSpPr>
        <p:spPr>
          <a:xfrm xmlns:a="http://schemas.openxmlformats.org/drawingml/2006/main">
            <a:off x="609600" y="4895850"/>
            <a:ext cx="4362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Completed work</a:t>
            </a:r>
          </a:p>
        </p:txBody>
      </p:sp>
      <p:sp>
        <p:nvSpPr>
          <p:cNvPr id="8" name="Frame CAD, bottom fastener locations, and a c">
            <a:extLst xmlns:a="http://schemas.openxmlformats.org/drawingml/2006/main">
              <a:ext uri="{FF2B5EF4-FFF2-40B4-BE49-F238E27FC236}">
                <a16:creationId xmlns:a16="http://schemas.microsoft.com/office/drawing/2014/main" id="{21B5DBAB-2EA4-47CC-95FD-7C6017F6B39F}"/>
              </a:ext>
            </a:extLst>
          </p:cNvPr>
          <p:cNvSpPr>
            <a:spLocks xmlns:a="http://schemas.openxmlformats.org/drawingml/2006/main" noGrp="1"/>
          </p:cNvSpPr>
          <p:nvPr/>
        </p:nvSpPr>
        <p:spPr>
          <a:xfrm xmlns:a="http://schemas.openxmlformats.org/drawingml/2006/main">
            <a:off x="609600" y="5305425"/>
            <a:ext cx="43624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Frame CAD, bottom fastener locations, and a construction plan.</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4a871a6b3ac4944"/>
          <a:stretch xmlns:a="http://schemas.openxmlformats.org/drawingml/2006/main"/>
        </p:blipFill>
        <p:spPr>
          <a:xfrm xmlns:a="http://schemas.openxmlformats.org/drawingml/2006/main">
            <a:off x="5334000" y="2010619"/>
            <a:ext cx="6248400" cy="4084538"/>
          </a:xfrm>
          <a:prstGeom xmlns:a="http://schemas.openxmlformats.org/drawingml/2006/main" prst="rect">
            <a:avLst/>
          </a:prstGeom>
        </p:spPr>
      </p:pic>
    </p:spTree>
    <p:extLst>
      <p:ext uri="{BB962C8B-B14F-4D97-AF65-F5344CB8AC3E}">
        <p14:creationId xmlns:p14="http://schemas.microsoft.com/office/powerpoint/2010/main" val="1634410701"/>
      </p:ext>
    </p:extLst>
  </p:cSld>
</p:sld>
</file>

<file path=ppt/slides/slide5.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0" name="Speaker architecture and testing">
            <a:extLst xmlns:a="http://schemas.openxmlformats.org/drawingml/2006/main">
              <a:ext uri="{FF2B5EF4-FFF2-40B4-BE49-F238E27FC236}">
                <a16:creationId xmlns:a16="http://schemas.microsoft.com/office/drawing/2014/main" id="{3C3CBF52-5BA9-405C-9929-A46299F108B1}"/>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02637"/>
                </a:solidFill>
                <a:latin typeface="DejaVu Sans"/>
                <a:ea typeface="DejaVu Sans"/>
                <a:cs typeface="DejaVu Sans"/>
              </a:defRPr>
            </a:pPr>
            <a:r>
              <a:rPr sz="3450" b="1">
                <a:solidFill>
                  <a:srgbClr val="102637"/>
                </a:solidFill>
                <a:latin typeface="DejaVu Sans"/>
                <a:ea typeface="DejaVu Sans"/>
                <a:cs typeface="DejaVu Sans"/>
              </a:rPr>
              <a:t>Speaker architecture and testing</a:t>
            </a:r>
          </a:p>
        </p:txBody>
      </p:sp>
      <p:sp>
        <p:nvSpPr>
          <p:cNvPr id="2" name="Four independent outputs remain a design requ">
            <a:extLst xmlns:a="http://schemas.openxmlformats.org/drawingml/2006/main">
              <a:ext uri="{FF2B5EF4-FFF2-40B4-BE49-F238E27FC236}">
                <a16:creationId xmlns:a16="http://schemas.microsoft.com/office/drawing/2014/main" id="{94D2B40D-FC73-4FE7-8209-C0CAC18442E6}"/>
              </a:ext>
            </a:extLst>
          </p:cNvPr>
          <p:cNvSpPr>
            <a:spLocks xmlns:a="http://schemas.openxmlformats.org/drawingml/2006/main" noGrp="1"/>
          </p:cNvSpPr>
          <p:nvPr/>
        </p:nvSpPr>
        <p:spPr>
          <a:xfrm xmlns:a="http://schemas.openxmlformats.org/drawingml/2006/main">
            <a:off x="609600" y="1190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47F80"/>
                </a:solidFill>
                <a:latin typeface="DejaVu Sans"/>
                <a:ea typeface="DejaVu Sans"/>
                <a:cs typeface="DejaVu Sans"/>
              </a:defRPr>
            </a:pPr>
            <a:r>
              <a:rPr sz="1650" b="0">
                <a:solidFill>
                  <a:srgbClr val="147F80"/>
                </a:solidFill>
                <a:latin typeface="DejaVu Sans"/>
                <a:ea typeface="DejaVu Sans"/>
                <a:cs typeface="DejaVu Sans"/>
              </a:rPr>
              <a:t>Four independent outputs remain a design requirement</a:t>
            </a:r>
          </a:p>
        </p:txBody>
      </p:sp>
      <p:sp>
        <p:nvSpPr>
          <p:cNvPr id="3" name="Audio control">
            <a:extLst xmlns:a="http://schemas.openxmlformats.org/drawingml/2006/main">
              <a:ext uri="{FF2B5EF4-FFF2-40B4-BE49-F238E27FC236}">
                <a16:creationId xmlns:a16="http://schemas.microsoft.com/office/drawing/2014/main" id="{94AA54AB-12DA-4DB8-ACC8-C90AC37AA213}"/>
              </a:ext>
            </a:extLst>
          </p:cNvPr>
          <p:cNvSpPr>
            <a:spLocks xmlns:a="http://schemas.openxmlformats.org/drawingml/2006/main" noGrp="1"/>
          </p:cNvSpPr>
          <p:nvPr/>
        </p:nvSpPr>
        <p:spPr>
          <a:xfrm xmlns:a="http://schemas.openxmlformats.org/drawingml/2006/main">
            <a:off x="609600" y="1847850"/>
            <a:ext cx="4457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Audio control</a:t>
            </a:r>
          </a:p>
        </p:txBody>
      </p:sp>
      <p:sp>
        <p:nvSpPr>
          <p:cNvPr id="4" name="The listed stereo amplifier needs revision or">
            <a:extLst xmlns:a="http://schemas.openxmlformats.org/drawingml/2006/main">
              <a:ext uri="{FF2B5EF4-FFF2-40B4-BE49-F238E27FC236}">
                <a16:creationId xmlns:a16="http://schemas.microsoft.com/office/drawing/2014/main" id="{5E9B5128-96DA-49C2-B11E-42DF8A69ECC1}"/>
              </a:ext>
            </a:extLst>
          </p:cNvPr>
          <p:cNvSpPr>
            <a:spLocks xmlns:a="http://schemas.openxmlformats.org/drawingml/2006/main" noGrp="1"/>
          </p:cNvSpPr>
          <p:nvPr/>
        </p:nvSpPr>
        <p:spPr>
          <a:xfrm xmlns:a="http://schemas.openxmlformats.org/drawingml/2006/main">
            <a:off x="609600" y="2257425"/>
            <a:ext cx="4457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The listed stereo amplifier needs revision or added channel control for four independent outputs.</a:t>
            </a:r>
          </a:p>
        </p:txBody>
      </p:sp>
      <p:sp>
        <p:nvSpPr>
          <p:cNvPr id="5" name="Test plan">
            <a:extLst xmlns:a="http://schemas.openxmlformats.org/drawingml/2006/main">
              <a:ext uri="{FF2B5EF4-FFF2-40B4-BE49-F238E27FC236}">
                <a16:creationId xmlns:a16="http://schemas.microsoft.com/office/drawing/2014/main" id="{AF52F962-FA4D-46A1-BD0C-0AE42F4FB1BC}"/>
              </a:ext>
            </a:extLst>
          </p:cNvPr>
          <p:cNvSpPr>
            <a:spLocks xmlns:a="http://schemas.openxmlformats.org/drawingml/2006/main" noGrp="1"/>
          </p:cNvSpPr>
          <p:nvPr/>
        </p:nvSpPr>
        <p:spPr>
          <a:xfrm xmlns:a="http://schemas.openxmlformats.org/drawingml/2006/main">
            <a:off x="609600" y="3371850"/>
            <a:ext cx="4457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Test plan</a:t>
            </a:r>
          </a:p>
        </p:txBody>
      </p:sp>
      <p:sp>
        <p:nvSpPr>
          <p:cNvPr id="6" name="Compare adaptive mode on and off near walls a">
            <a:extLst xmlns:a="http://schemas.openxmlformats.org/drawingml/2006/main">
              <a:ext uri="{FF2B5EF4-FFF2-40B4-BE49-F238E27FC236}">
                <a16:creationId xmlns:a16="http://schemas.microsoft.com/office/drawing/2014/main" id="{17DB66C3-6202-4869-B662-33069AE5A6AA}"/>
              </a:ext>
            </a:extLst>
          </p:cNvPr>
          <p:cNvSpPr>
            <a:spLocks xmlns:a="http://schemas.openxmlformats.org/drawingml/2006/main" noGrp="1"/>
          </p:cNvSpPr>
          <p:nvPr/>
        </p:nvSpPr>
        <p:spPr>
          <a:xfrm xmlns:a="http://schemas.openxmlformats.org/drawingml/2006/main">
            <a:off x="609600" y="3781425"/>
            <a:ext cx="4457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Compare adaptive mode on and off near walls and corners. Measure power and audible effects.</a:t>
            </a:r>
          </a:p>
        </p:txBody>
      </p:sp>
      <p:sp>
        <p:nvSpPr>
          <p:cNvPr id="7" name="Design questions">
            <a:extLst xmlns:a="http://schemas.openxmlformats.org/drawingml/2006/main">
              <a:ext uri="{FF2B5EF4-FFF2-40B4-BE49-F238E27FC236}">
                <a16:creationId xmlns:a16="http://schemas.microsoft.com/office/drawing/2014/main" id="{BBC30D88-D141-4391-BC5D-B4A4C8605102}"/>
              </a:ext>
            </a:extLst>
          </p:cNvPr>
          <p:cNvSpPr>
            <a:spLocks xmlns:a="http://schemas.openxmlformats.org/drawingml/2006/main" noGrp="1"/>
          </p:cNvSpPr>
          <p:nvPr/>
        </p:nvSpPr>
        <p:spPr>
          <a:xfrm xmlns:a="http://schemas.openxmlformats.org/drawingml/2006/main">
            <a:off x="609600" y="4895850"/>
            <a:ext cx="4457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Design questions</a:t>
            </a:r>
          </a:p>
        </p:txBody>
      </p:sp>
      <p:sp>
        <p:nvSpPr>
          <p:cNvPr id="8" name="Sensor thresholds, driver interaction, and in">
            <a:extLst xmlns:a="http://schemas.openxmlformats.org/drawingml/2006/main">
              <a:ext uri="{FF2B5EF4-FFF2-40B4-BE49-F238E27FC236}">
                <a16:creationId xmlns:a16="http://schemas.microsoft.com/office/drawing/2014/main" id="{4B02E990-BB22-435D-8A42-104AC67892B9}"/>
              </a:ext>
            </a:extLst>
          </p:cNvPr>
          <p:cNvSpPr>
            <a:spLocks xmlns:a="http://schemas.openxmlformats.org/drawingml/2006/main" noGrp="1"/>
          </p:cNvSpPr>
          <p:nvPr/>
        </p:nvSpPr>
        <p:spPr>
          <a:xfrm xmlns:a="http://schemas.openxmlformats.org/drawingml/2006/main">
            <a:off x="609600" y="5305425"/>
            <a:ext cx="4457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Sensor thresholds, driver interaction, and internal volume still need testing.</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e8ce944e8994d5a"/>
          <a:stretch xmlns:a="http://schemas.openxmlformats.org/drawingml/2006/main"/>
        </p:blipFill>
        <p:spPr>
          <a:xfrm xmlns:a="http://schemas.openxmlformats.org/drawingml/2006/main">
            <a:off x="5529432" y="1857375"/>
            <a:ext cx="5895636" cy="4400550"/>
          </a:xfrm>
          <a:prstGeom xmlns:a="http://schemas.openxmlformats.org/drawingml/2006/main" prst="rect">
            <a:avLst/>
          </a:prstGeom>
        </p:spPr>
      </p:pic>
    </p:spTree>
    <p:extLst>
      <p:ext uri="{BB962C8B-B14F-4D97-AF65-F5344CB8AC3E}">
        <p14:creationId xmlns:p14="http://schemas.microsoft.com/office/powerpoint/2010/main" val="1968746840"/>
      </p:ext>
    </p:extLst>
  </p:cSld>
</p:sld>
</file>

<file path=ppt/slides/slide6.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0" name="Minecraft chess set">
            <a:extLst xmlns:a="http://schemas.openxmlformats.org/drawingml/2006/main">
              <a:ext uri="{FF2B5EF4-FFF2-40B4-BE49-F238E27FC236}">
                <a16:creationId xmlns:a16="http://schemas.microsoft.com/office/drawing/2014/main" id="{2701B785-DD28-4702-A0BE-D61EE1367225}"/>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02637"/>
                </a:solidFill>
                <a:latin typeface="DejaVu Sans"/>
                <a:ea typeface="DejaVu Sans"/>
                <a:cs typeface="DejaVu Sans"/>
              </a:defRPr>
            </a:pPr>
            <a:r>
              <a:rPr sz="3450" b="1">
                <a:solidFill>
                  <a:srgbClr val="102637"/>
                </a:solidFill>
                <a:latin typeface="DejaVu Sans"/>
                <a:ea typeface="DejaVu Sans"/>
                <a:cs typeface="DejaVu Sans"/>
              </a:rPr>
              <a:t>Minecraft chess set</a:t>
            </a:r>
          </a:p>
        </p:txBody>
      </p:sp>
      <p:sp>
        <p:nvSpPr>
          <p:cNvPr id="2" name="PLTW 2024 · Individual parts in a team assemb">
            <a:extLst xmlns:a="http://schemas.openxmlformats.org/drawingml/2006/main">
              <a:ext uri="{FF2B5EF4-FFF2-40B4-BE49-F238E27FC236}">
                <a16:creationId xmlns:a16="http://schemas.microsoft.com/office/drawing/2014/main" id="{D03CDCA2-F1D4-4A4E-95C6-C93065096B29}"/>
              </a:ext>
            </a:extLst>
          </p:cNvPr>
          <p:cNvSpPr>
            <a:spLocks xmlns:a="http://schemas.openxmlformats.org/drawingml/2006/main" noGrp="1"/>
          </p:cNvSpPr>
          <p:nvPr/>
        </p:nvSpPr>
        <p:spPr>
          <a:xfrm xmlns:a="http://schemas.openxmlformats.org/drawingml/2006/main">
            <a:off x="609600" y="1190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47F80"/>
                </a:solidFill>
                <a:latin typeface="DejaVu Sans"/>
                <a:ea typeface="DejaVu Sans"/>
                <a:cs typeface="DejaVu Sans"/>
              </a:defRPr>
            </a:pPr>
            <a:r>
              <a:rPr sz="1650" b="0">
                <a:solidFill>
                  <a:srgbClr val="147F80"/>
                </a:solidFill>
                <a:latin typeface="DejaVu Sans"/>
                <a:ea typeface="DejaVu Sans"/>
                <a:cs typeface="DejaVu Sans"/>
              </a:rPr>
              <a:t>PLTW 2024 · Individual parts in a team assembly</a:t>
            </a:r>
          </a:p>
        </p:txBody>
      </p:sp>
      <p:sp>
        <p:nvSpPr>
          <p:cNvPr id="3" name="My parts">
            <a:extLst xmlns:a="http://schemas.openxmlformats.org/drawingml/2006/main">
              <a:ext uri="{FF2B5EF4-FFF2-40B4-BE49-F238E27FC236}">
                <a16:creationId xmlns:a16="http://schemas.microsoft.com/office/drawing/2014/main" id="{12488B51-96DB-4203-93DB-85B1C0144AD7}"/>
              </a:ext>
            </a:extLst>
          </p:cNvPr>
          <p:cNvSpPr>
            <a:spLocks xmlns:a="http://schemas.openxmlformats.org/drawingml/2006/main" noGrp="1"/>
          </p:cNvSpPr>
          <p:nvPr/>
        </p:nvSpPr>
        <p:spPr>
          <a:xfrm xmlns:a="http://schemas.openxmlformats.org/drawingml/2006/main">
            <a:off x="609600" y="184785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My parts</a:t>
            </a:r>
          </a:p>
        </p:txBody>
      </p:sp>
      <p:sp>
        <p:nvSpPr>
          <p:cNvPr id="4" name="Knight, Steve piece, and wolf bishop. Drawing">
            <a:extLst xmlns:a="http://schemas.openxmlformats.org/drawingml/2006/main">
              <a:ext uri="{FF2B5EF4-FFF2-40B4-BE49-F238E27FC236}">
                <a16:creationId xmlns:a16="http://schemas.microsoft.com/office/drawing/2014/main" id="{16761CD3-7CA6-49B5-9861-E22241C38D8F}"/>
              </a:ext>
            </a:extLst>
          </p:cNvPr>
          <p:cNvSpPr>
            <a:spLocks xmlns:a="http://schemas.openxmlformats.org/drawingml/2006/main" noGrp="1"/>
          </p:cNvSpPr>
          <p:nvPr/>
        </p:nvSpPr>
        <p:spPr>
          <a:xfrm xmlns:a="http://schemas.openxmlformats.org/drawingml/2006/main">
            <a:off x="609600" y="2257425"/>
            <a:ext cx="4381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Knight, Steve piece, and wolf bishop. Drawing title blocks identify my contribution.</a:t>
            </a:r>
          </a:p>
        </p:txBody>
      </p:sp>
      <p:sp>
        <p:nvSpPr>
          <p:cNvPr id="5" name="Documentation">
            <a:extLst xmlns:a="http://schemas.openxmlformats.org/drawingml/2006/main">
              <a:ext uri="{FF2B5EF4-FFF2-40B4-BE49-F238E27FC236}">
                <a16:creationId xmlns:a16="http://schemas.microsoft.com/office/drawing/2014/main" id="{2F5FB261-1310-44E8-A460-F53129516D7E}"/>
              </a:ext>
            </a:extLst>
          </p:cNvPr>
          <p:cNvSpPr>
            <a:spLocks xmlns:a="http://schemas.openxmlformats.org/drawingml/2006/main" noGrp="1"/>
          </p:cNvSpPr>
          <p:nvPr/>
        </p:nvSpPr>
        <p:spPr>
          <a:xfrm xmlns:a="http://schemas.openxmlformats.org/drawingml/2006/main">
            <a:off x="609600" y="337185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Documentation</a:t>
            </a:r>
          </a:p>
        </p:txBody>
      </p:sp>
      <p:sp>
        <p:nvSpPr>
          <p:cNvPr id="6" name="Dimensioned views and neutral STEP geometry p">
            <a:extLst xmlns:a="http://schemas.openxmlformats.org/drawingml/2006/main">
              <a:ext uri="{FF2B5EF4-FFF2-40B4-BE49-F238E27FC236}">
                <a16:creationId xmlns:a16="http://schemas.microsoft.com/office/drawing/2014/main" id="{E4DDC903-C9A5-444B-A589-6A8068D5D4F1}"/>
              </a:ext>
            </a:extLst>
          </p:cNvPr>
          <p:cNvSpPr>
            <a:spLocks xmlns:a="http://schemas.openxmlformats.org/drawingml/2006/main" noGrp="1"/>
          </p:cNvSpPr>
          <p:nvPr/>
        </p:nvSpPr>
        <p:spPr>
          <a:xfrm xmlns:a="http://schemas.openxmlformats.org/drawingml/2006/main">
            <a:off x="609600" y="3781425"/>
            <a:ext cx="4381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Dimensioned views and neutral STEP geometry preserve the designs.</a:t>
            </a:r>
          </a:p>
        </p:txBody>
      </p:sp>
      <p:sp>
        <p:nvSpPr>
          <p:cNvPr id="7" name="Next iteration">
            <a:extLst xmlns:a="http://schemas.openxmlformats.org/drawingml/2006/main">
              <a:ext uri="{FF2B5EF4-FFF2-40B4-BE49-F238E27FC236}">
                <a16:creationId xmlns:a16="http://schemas.microsoft.com/office/drawing/2014/main" id="{A42F1779-9B97-4CC4-B026-D47CCBDCCCAD}"/>
              </a:ext>
            </a:extLst>
          </p:cNvPr>
          <p:cNvSpPr>
            <a:spLocks xmlns:a="http://schemas.openxmlformats.org/drawingml/2006/main" noGrp="1"/>
          </p:cNvSpPr>
          <p:nvPr/>
        </p:nvSpPr>
        <p:spPr>
          <a:xfrm xmlns:a="http://schemas.openxmlformats.org/drawingml/2006/main">
            <a:off x="609600" y="489585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Next iteration</a:t>
            </a:r>
          </a:p>
        </p:txBody>
      </p:sp>
      <p:sp>
        <p:nvSpPr>
          <p:cNvPr id="8" name="Check manufacturability and base consistency ">
            <a:extLst xmlns:a="http://schemas.openxmlformats.org/drawingml/2006/main">
              <a:ext uri="{FF2B5EF4-FFF2-40B4-BE49-F238E27FC236}">
                <a16:creationId xmlns:a16="http://schemas.microsoft.com/office/drawing/2014/main" id="{617FE6DA-1AD2-49D1-A639-D5837D6703C8}"/>
              </a:ext>
            </a:extLst>
          </p:cNvPr>
          <p:cNvSpPr>
            <a:spLocks xmlns:a="http://schemas.openxmlformats.org/drawingml/2006/main" noGrp="1"/>
          </p:cNvSpPr>
          <p:nvPr/>
        </p:nvSpPr>
        <p:spPr>
          <a:xfrm xmlns:a="http://schemas.openxmlformats.org/drawingml/2006/main">
            <a:off x="609600" y="5305425"/>
            <a:ext cx="4381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Check manufacturability and base consistency with a physical test print.</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881af4aae954c09"/>
          <a:stretch xmlns:a="http://schemas.openxmlformats.org/drawingml/2006/main"/>
        </p:blipFill>
        <p:spPr>
          <a:xfrm xmlns:a="http://schemas.openxmlformats.org/drawingml/2006/main">
            <a:off x="5334000" y="2067091"/>
            <a:ext cx="6248400" cy="4028743"/>
          </a:xfrm>
          <a:prstGeom xmlns:a="http://schemas.openxmlformats.org/drawingml/2006/main" prst="rect">
            <a:avLst/>
          </a:prstGeom>
        </p:spPr>
      </p:pic>
    </p:spTree>
    <p:extLst>
      <p:ext uri="{BB962C8B-B14F-4D97-AF65-F5344CB8AC3E}">
        <p14:creationId xmlns:p14="http://schemas.microsoft.com/office/powerpoint/2010/main" val="426864410"/>
      </p:ext>
    </p:extLst>
  </p:cSld>
</p:sld>
</file>

<file path=ppt/slides/slide7.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1" name="Star container and CAM studies">
            <a:extLst xmlns:a="http://schemas.openxmlformats.org/drawingml/2006/main">
              <a:ext uri="{FF2B5EF4-FFF2-40B4-BE49-F238E27FC236}">
                <a16:creationId xmlns:a16="http://schemas.microsoft.com/office/drawing/2014/main" id="{A2E6142B-E373-47AC-8BD2-29DE5415F7A3}"/>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02637"/>
                </a:solidFill>
                <a:latin typeface="DejaVu Sans"/>
                <a:ea typeface="DejaVu Sans"/>
                <a:cs typeface="DejaVu Sans"/>
              </a:defRPr>
            </a:pPr>
            <a:r>
              <a:rPr sz="3450" b="1">
                <a:solidFill>
                  <a:srgbClr val="102637"/>
                </a:solidFill>
                <a:latin typeface="DejaVu Sans"/>
                <a:ea typeface="DejaVu Sans"/>
                <a:cs typeface="DejaVu Sans"/>
              </a:rPr>
              <a:t>Star container and CAM studies</a:t>
            </a:r>
          </a:p>
        </p:txBody>
      </p:sp>
      <p:sp>
        <p:nvSpPr>
          <p:cNvPr id="2" name="PLTW 2025 · CAD models and toolpath simulatio">
            <a:extLst xmlns:a="http://schemas.openxmlformats.org/drawingml/2006/main">
              <a:ext uri="{FF2B5EF4-FFF2-40B4-BE49-F238E27FC236}">
                <a16:creationId xmlns:a16="http://schemas.microsoft.com/office/drawing/2014/main" id="{89AFF6FB-F171-4464-802A-426E48E1FA6D}"/>
              </a:ext>
            </a:extLst>
          </p:cNvPr>
          <p:cNvSpPr>
            <a:spLocks xmlns:a="http://schemas.openxmlformats.org/drawingml/2006/main" noGrp="1"/>
          </p:cNvSpPr>
          <p:nvPr/>
        </p:nvSpPr>
        <p:spPr>
          <a:xfrm xmlns:a="http://schemas.openxmlformats.org/drawingml/2006/main">
            <a:off x="609600" y="1190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47F80"/>
                </a:solidFill>
                <a:latin typeface="DejaVu Sans"/>
                <a:ea typeface="DejaVu Sans"/>
                <a:cs typeface="DejaVu Sans"/>
              </a:defRPr>
            </a:pPr>
            <a:r>
              <a:rPr sz="1650" b="0">
                <a:solidFill>
                  <a:srgbClr val="147F80"/>
                </a:solidFill>
                <a:latin typeface="DejaVu Sans"/>
                <a:ea typeface="DejaVu Sans"/>
                <a:cs typeface="DejaVu Sans"/>
              </a:rPr>
              <a:t>PLTW 2025 · CAD models and toolpath simulations</a:t>
            </a:r>
          </a:p>
        </p:txBody>
      </p:sp>
      <p:sp>
        <p:nvSpPr>
          <p:cNvPr id="3" name="Part geometry">
            <a:extLst xmlns:a="http://schemas.openxmlformats.org/drawingml/2006/main">
              <a:ext uri="{FF2B5EF4-FFF2-40B4-BE49-F238E27FC236}">
                <a16:creationId xmlns:a16="http://schemas.microsoft.com/office/drawing/2014/main" id="{60A96118-A2A6-4F12-95C0-B8F30A80F5FA}"/>
              </a:ext>
            </a:extLst>
          </p:cNvPr>
          <p:cNvSpPr>
            <a:spLocks xmlns:a="http://schemas.openxmlformats.org/drawingml/2006/main" noGrp="1"/>
          </p:cNvSpPr>
          <p:nvPr/>
        </p:nvSpPr>
        <p:spPr>
          <a:xfrm xmlns:a="http://schemas.openxmlformats.org/drawingml/2006/main">
            <a:off x="609600" y="18478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Part geometry</a:t>
            </a:r>
          </a:p>
        </p:txBody>
      </p:sp>
      <p:sp>
        <p:nvSpPr>
          <p:cNvPr id="4" name="A star-shaped base and fitted lid. Sketches e">
            <a:extLst xmlns:a="http://schemas.openxmlformats.org/drawingml/2006/main">
              <a:ext uri="{FF2B5EF4-FFF2-40B4-BE49-F238E27FC236}">
                <a16:creationId xmlns:a16="http://schemas.microsoft.com/office/drawing/2014/main" id="{A15FFCC3-8D26-4FDA-9DBC-C62BD5FBCF1A}"/>
              </a:ext>
            </a:extLst>
          </p:cNvPr>
          <p:cNvSpPr>
            <a:spLocks xmlns:a="http://schemas.openxmlformats.org/drawingml/2006/main" noGrp="1"/>
          </p:cNvSpPr>
          <p:nvPr/>
        </p:nvSpPr>
        <p:spPr>
          <a:xfrm xmlns:a="http://schemas.openxmlformats.org/drawingml/2006/main">
            <a:off x="609600" y="2257425"/>
            <a:ext cx="43243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A star-shaped base and fitted lid. Sketches examine the fit between the opening and the lid.</a:t>
            </a:r>
          </a:p>
        </p:txBody>
      </p:sp>
      <p:sp>
        <p:nvSpPr>
          <p:cNvPr id="5" name="CAM work">
            <a:extLst xmlns:a="http://schemas.openxmlformats.org/drawingml/2006/main">
              <a:ext uri="{FF2B5EF4-FFF2-40B4-BE49-F238E27FC236}">
                <a16:creationId xmlns:a16="http://schemas.microsoft.com/office/drawing/2014/main" id="{3DCBB31C-D1F9-489A-A594-0CBF32FD1FA8}"/>
              </a:ext>
            </a:extLst>
          </p:cNvPr>
          <p:cNvSpPr>
            <a:spLocks xmlns:a="http://schemas.openxmlformats.org/drawingml/2006/main" noGrp="1"/>
          </p:cNvSpPr>
          <p:nvPr/>
        </p:nvSpPr>
        <p:spPr>
          <a:xfrm xmlns:a="http://schemas.openxmlformats.org/drawingml/2006/main">
            <a:off x="609600" y="33718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CAM work</a:t>
            </a:r>
          </a:p>
        </p:txBody>
      </p:sp>
      <p:sp>
        <p:nvSpPr>
          <p:cNvPr id="6" name="2D pockets and contours, with related studies">
            <a:extLst xmlns:a="http://schemas.openxmlformats.org/drawingml/2006/main">
              <a:ext uri="{FF2B5EF4-FFF2-40B4-BE49-F238E27FC236}">
                <a16:creationId xmlns:a16="http://schemas.microsoft.com/office/drawing/2014/main" id="{847B5AC5-3E8A-44F3-BA51-DD38265D42A9}"/>
              </a:ext>
            </a:extLst>
          </p:cNvPr>
          <p:cNvSpPr>
            <a:spLocks xmlns:a="http://schemas.openxmlformats.org/drawingml/2006/main" noGrp="1"/>
          </p:cNvSpPr>
          <p:nvPr/>
        </p:nvSpPr>
        <p:spPr>
          <a:xfrm xmlns:a="http://schemas.openxmlformats.org/drawingml/2006/main">
            <a:off x="609600" y="3781425"/>
            <a:ext cx="43243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2D pockets and contours, with related studies in facing, slotting, drilling, and surface machining.</a:t>
            </a:r>
          </a:p>
        </p:txBody>
      </p:sp>
      <p:sp>
        <p:nvSpPr>
          <p:cNvPr id="7" name="Lesson">
            <a:extLst xmlns:a="http://schemas.openxmlformats.org/drawingml/2006/main">
              <a:ext uri="{FF2B5EF4-FFF2-40B4-BE49-F238E27FC236}">
                <a16:creationId xmlns:a16="http://schemas.microsoft.com/office/drawing/2014/main" id="{AD758B77-91F7-4CED-8671-2DC864E59C86}"/>
              </a:ext>
            </a:extLst>
          </p:cNvPr>
          <p:cNvSpPr>
            <a:spLocks xmlns:a="http://schemas.openxmlformats.org/drawingml/2006/main" noGrp="1"/>
          </p:cNvSpPr>
          <p:nvPr/>
        </p:nvSpPr>
        <p:spPr>
          <a:xfrm xmlns:a="http://schemas.openxmlformats.org/drawingml/2006/main">
            <a:off x="609600" y="48958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Lesson</a:t>
            </a:r>
          </a:p>
        </p:txBody>
      </p:sp>
      <p:sp>
        <p:nvSpPr>
          <p:cNvPr id="8" name="Plan tool access while modeling. Reduce unnec">
            <a:extLst xmlns:a="http://schemas.openxmlformats.org/drawingml/2006/main">
              <a:ext uri="{FF2B5EF4-FFF2-40B4-BE49-F238E27FC236}">
                <a16:creationId xmlns:a16="http://schemas.microsoft.com/office/drawing/2014/main" id="{F7F615CD-6F4D-42AA-9437-81B2064B76EE}"/>
              </a:ext>
            </a:extLst>
          </p:cNvPr>
          <p:cNvSpPr>
            <a:spLocks xmlns:a="http://schemas.openxmlformats.org/drawingml/2006/main" noGrp="1"/>
          </p:cNvSpPr>
          <p:nvPr/>
        </p:nvSpPr>
        <p:spPr>
          <a:xfrm xmlns:a="http://schemas.openxmlformats.org/drawingml/2006/main">
            <a:off x="609600" y="5305425"/>
            <a:ext cx="43243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Plan tool access while modeling. Reduce unnecessary tool travel.</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849c49fd20c41c2"/>
          <a:stretch xmlns:a="http://schemas.openxmlformats.org/drawingml/2006/main"/>
        </p:blipFill>
        <p:spPr>
          <a:xfrm xmlns:a="http://schemas.openxmlformats.org/drawingml/2006/main">
            <a:off x="6826619" y="1809750"/>
            <a:ext cx="3110762" cy="2619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fe1114725404213"/>
          <a:stretch xmlns:a="http://schemas.openxmlformats.org/drawingml/2006/main"/>
        </p:blipFill>
        <p:spPr>
          <a:xfrm xmlns:a="http://schemas.openxmlformats.org/drawingml/2006/main">
            <a:off x="6896060" y="4457700"/>
            <a:ext cx="2971881" cy="1790700"/>
          </a:xfrm>
          <a:prstGeom xmlns:a="http://schemas.openxmlformats.org/drawingml/2006/main" prst="rect">
            <a:avLst/>
          </a:prstGeom>
        </p:spPr>
      </p:pic>
    </p:spTree>
    <p:extLst>
      <p:ext uri="{BB962C8B-B14F-4D97-AF65-F5344CB8AC3E}">
        <p14:creationId xmlns:p14="http://schemas.microsoft.com/office/powerpoint/2010/main" val="603630751"/>
      </p:ext>
    </p:extLst>
  </p:cSld>
</p:sld>
</file>

<file path=ppt/slides/slide8.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9" name="Insole design study">
            <a:extLst xmlns:a="http://schemas.openxmlformats.org/drawingml/2006/main">
              <a:ext uri="{FF2B5EF4-FFF2-40B4-BE49-F238E27FC236}">
                <a16:creationId xmlns:a16="http://schemas.microsoft.com/office/drawing/2014/main" id="{4EDEF8D4-83E8-4557-ABC2-0DFA505FED38}"/>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02637"/>
                </a:solidFill>
                <a:latin typeface="DejaVu Sans"/>
                <a:ea typeface="DejaVu Sans"/>
                <a:cs typeface="DejaVu Sans"/>
              </a:defRPr>
            </a:pPr>
            <a:r>
              <a:rPr sz="3450" b="1">
                <a:solidFill>
                  <a:srgbClr val="102637"/>
                </a:solidFill>
                <a:latin typeface="DejaVu Sans"/>
                <a:ea typeface="DejaVu Sans"/>
                <a:cs typeface="DejaVu Sans"/>
              </a:rPr>
              <a:t>Insole design study</a:t>
            </a:r>
          </a:p>
        </p:txBody>
      </p:sp>
      <p:sp>
        <p:nvSpPr>
          <p:cNvPr id="2" name="Senior PLTW capstone · Team planning and desi">
            <a:extLst xmlns:a="http://schemas.openxmlformats.org/drawingml/2006/main">
              <a:ext uri="{FF2B5EF4-FFF2-40B4-BE49-F238E27FC236}">
                <a16:creationId xmlns:a16="http://schemas.microsoft.com/office/drawing/2014/main" id="{10EA777C-EF51-4BBE-AA2E-527F29C720C4}"/>
              </a:ext>
            </a:extLst>
          </p:cNvPr>
          <p:cNvSpPr>
            <a:spLocks xmlns:a="http://schemas.openxmlformats.org/drawingml/2006/main" noGrp="1"/>
          </p:cNvSpPr>
          <p:nvPr/>
        </p:nvSpPr>
        <p:spPr>
          <a:xfrm xmlns:a="http://schemas.openxmlformats.org/drawingml/2006/main">
            <a:off x="609600" y="1190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47F80"/>
                </a:solidFill>
                <a:latin typeface="DejaVu Sans"/>
                <a:ea typeface="DejaVu Sans"/>
                <a:cs typeface="DejaVu Sans"/>
              </a:defRPr>
            </a:pPr>
            <a:r>
              <a:rPr sz="1650" b="0">
                <a:solidFill>
                  <a:srgbClr val="147F80"/>
                </a:solidFill>
                <a:latin typeface="DejaVu Sans"/>
                <a:ea typeface="DejaVu Sans"/>
                <a:cs typeface="DejaVu Sans"/>
              </a:rPr>
              <a:t>Senior PLTW capstone · Team planning and design research</a:t>
            </a:r>
          </a:p>
        </p:txBody>
      </p:sp>
      <p:sp>
        <p:nvSpPr>
          <p:cNvPr id="3" name="Material stack and prototype planning">
            <a:extLst xmlns:a="http://schemas.openxmlformats.org/drawingml/2006/main">
              <a:ext uri="{FF2B5EF4-FFF2-40B4-BE49-F238E27FC236}">
                <a16:creationId xmlns:a16="http://schemas.microsoft.com/office/drawing/2014/main" id="{2DA70E5E-5BEF-46C2-A200-5B52A4439211}"/>
              </a:ext>
            </a:extLst>
          </p:cNvPr>
          <p:cNvSpPr>
            <a:spLocks xmlns:a="http://schemas.openxmlformats.org/drawingml/2006/main" noGrp="1"/>
          </p:cNvSpPr>
          <p:nvPr/>
        </p:nvSpPr>
        <p:spPr>
          <a:xfrm xmlns:a="http://schemas.openxmlformats.org/drawingml/2006/main">
            <a:off x="609600" y="2095500"/>
            <a:ext cx="10810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02637"/>
                </a:solidFill>
                <a:latin typeface="DejaVu Sans"/>
                <a:ea typeface="DejaVu Sans"/>
                <a:cs typeface="DejaVu Sans"/>
              </a:defRPr>
            </a:pPr>
            <a:r>
              <a:rPr sz="2850" b="1">
                <a:solidFill>
                  <a:srgbClr val="102637"/>
                </a:solidFill>
                <a:latin typeface="DejaVu Sans"/>
                <a:ea typeface="DejaVu Sans"/>
                <a:cs typeface="DejaVu Sans"/>
              </a:rPr>
              <a:t>Material stack and prototype planning</a:t>
            </a:r>
          </a:p>
        </p:txBody>
      </p:sp>
      <p:sp>
        <p:nvSpPr>
          <p:cNvPr id="4" name="Compared foam, silicone, fabric, and memory f">
            <a:extLst xmlns:a="http://schemas.openxmlformats.org/drawingml/2006/main">
              <a:ext uri="{FF2B5EF4-FFF2-40B4-BE49-F238E27FC236}">
                <a16:creationId xmlns:a16="http://schemas.microsoft.com/office/drawing/2014/main" id="{E2E32E02-433D-4EEE-80AD-9C6F012B62E5}"/>
              </a:ext>
            </a:extLst>
          </p:cNvPr>
          <p:cNvSpPr>
            <a:spLocks xmlns:a="http://schemas.openxmlformats.org/drawingml/2006/main" noGrp="1"/>
          </p:cNvSpPr>
          <p:nvPr/>
        </p:nvSpPr>
        <p:spPr>
          <a:xfrm xmlns:a="http://schemas.openxmlformats.org/drawingml/2006/main">
            <a:off x="609600" y="29337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4C626E"/>
                </a:solidFill>
                <a:latin typeface="DejaVu Sans"/>
                <a:ea typeface="DejaVu Sans"/>
                <a:cs typeface="DejaVu Sans"/>
              </a:defRPr>
            </a:pPr>
            <a:r>
              <a:rPr sz="2175" b="0">
                <a:solidFill>
                  <a:srgbClr val="4C626E"/>
                </a:solidFill>
                <a:latin typeface="DejaVu Sans"/>
                <a:ea typeface="DejaVu Sans"/>
                <a:cs typeface="DejaVu Sans"/>
              </a:rPr>
              <a:t>Compared foam, silicone, fabric, and memory foam.</a:t>
            </a:r>
          </a:p>
          <a:p xmlns:a="http://schemas.openxmlformats.org/drawingml/2006/main">
            <a:pPr>
              <a:defRPr sz="2175" b="0">
                <a:solidFill>
                  <a:srgbClr val="4C626E"/>
                </a:solidFill>
                <a:latin typeface="DejaVu Sans"/>
                <a:ea typeface="DejaVu Sans"/>
                <a:cs typeface="DejaVu Sans"/>
              </a:defRPr>
            </a:pPr>
            <a:r>
              <a:rPr sz="2175" b="0">
                <a:solidFill>
                  <a:srgbClr val="4C626E"/>
                </a:solidFill>
                <a:latin typeface="DejaVu Sans"/>
                <a:ea typeface="DejaVu Sans"/>
                <a:cs typeface="DejaVu Sans"/>
              </a:rPr>
              <a:t>Planned cutting, shaping, and assembly with available equipment.</a:t>
            </a:r>
          </a:p>
        </p:txBody>
      </p:sp>
      <p:sp>
        <p:nvSpPr>
          <p:cNvPr id="5" name="Sensing exploration">
            <a:extLst xmlns:a="http://schemas.openxmlformats.org/drawingml/2006/main">
              <a:ext uri="{FF2B5EF4-FFF2-40B4-BE49-F238E27FC236}">
                <a16:creationId xmlns:a16="http://schemas.microsoft.com/office/drawing/2014/main" id="{84974258-EA87-4000-A11B-2C2B1F0420AE}"/>
              </a:ext>
            </a:extLst>
          </p:cNvPr>
          <p:cNvSpPr>
            <a:spLocks xmlns:a="http://schemas.openxmlformats.org/drawingml/2006/main" noGrp="1"/>
          </p:cNvSpPr>
          <p:nvPr/>
        </p:nvSpPr>
        <p:spPr>
          <a:xfrm xmlns:a="http://schemas.openxmlformats.org/drawingml/2006/main">
            <a:off x="609600" y="44100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F80"/>
                </a:solidFill>
                <a:latin typeface="DejaVu Sans"/>
                <a:ea typeface="DejaVu Sans"/>
                <a:cs typeface="DejaVu Sans"/>
              </a:defRPr>
            </a:pPr>
            <a:r>
              <a:rPr sz="2100" b="1">
                <a:solidFill>
                  <a:srgbClr val="147F80"/>
                </a:solidFill>
                <a:latin typeface="DejaVu Sans"/>
                <a:ea typeface="DejaVu Sans"/>
                <a:cs typeface="DejaVu Sans"/>
              </a:rPr>
              <a:t>Sensing exploration</a:t>
            </a:r>
          </a:p>
        </p:txBody>
      </p:sp>
      <p:sp>
        <p:nvSpPr>
          <p:cNvPr id="6" name="Considered load cells, HX711 modules,&#10;and a m">
            <a:extLst xmlns:a="http://schemas.openxmlformats.org/drawingml/2006/main">
              <a:ext uri="{FF2B5EF4-FFF2-40B4-BE49-F238E27FC236}">
                <a16:creationId xmlns:a16="http://schemas.microsoft.com/office/drawing/2014/main" id="{BC888D9E-00DC-44A4-A06F-2D5E329CD992}"/>
              </a:ext>
            </a:extLst>
          </p:cNvPr>
          <p:cNvSpPr>
            <a:spLocks xmlns:a="http://schemas.openxmlformats.org/drawingml/2006/main" noGrp="1"/>
          </p:cNvSpPr>
          <p:nvPr/>
        </p:nvSpPr>
        <p:spPr>
          <a:xfrm xmlns:a="http://schemas.openxmlformats.org/drawingml/2006/main">
            <a:off x="609600" y="4924425"/>
            <a:ext cx="52673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4C626E"/>
                </a:solidFill>
                <a:latin typeface="DejaVu Sans"/>
                <a:ea typeface="DejaVu Sans"/>
                <a:cs typeface="DejaVu Sans"/>
              </a:defRPr>
            </a:pPr>
            <a:r>
              <a:rPr sz="1950" b="0">
                <a:solidFill>
                  <a:srgbClr val="4C626E"/>
                </a:solidFill>
                <a:latin typeface="DejaVu Sans"/>
                <a:ea typeface="DejaVu Sans"/>
                <a:cs typeface="DejaVu Sans"/>
              </a:rPr>
              <a:t>Considered load cells, HX711 modules,</a:t>
            </a:r>
          </a:p>
          <a:p xmlns:a="http://schemas.openxmlformats.org/drawingml/2006/main">
            <a:pPr>
              <a:defRPr sz="1950" b="0">
                <a:solidFill>
                  <a:srgbClr val="4C626E"/>
                </a:solidFill>
                <a:latin typeface="DejaVu Sans"/>
                <a:ea typeface="DejaVu Sans"/>
                <a:cs typeface="DejaVu Sans"/>
              </a:defRPr>
            </a:pPr>
            <a:r>
              <a:rPr sz="1950" b="0">
                <a:solidFill>
                  <a:srgbClr val="4C626E"/>
                </a:solidFill>
                <a:latin typeface="DejaVu Sans"/>
                <a:ea typeface="DejaVu Sans"/>
                <a:cs typeface="DejaVu Sans"/>
              </a:rPr>
              <a:t>and a microcontroller. Sensor integration</a:t>
            </a:r>
          </a:p>
          <a:p xmlns:a="http://schemas.openxmlformats.org/drawingml/2006/main">
            <a:pPr>
              <a:defRPr sz="1950" b="0">
                <a:solidFill>
                  <a:srgbClr val="4C626E"/>
                </a:solidFill>
                <a:latin typeface="DejaVu Sans"/>
                <a:ea typeface="DejaVu Sans"/>
                <a:cs typeface="DejaVu Sans"/>
              </a:defRPr>
            </a:pPr>
            <a:r>
              <a:rPr sz="1950" b="0">
                <a:solidFill>
                  <a:srgbClr val="4C626E"/>
                </a:solidFill>
                <a:latin typeface="DejaVu Sans"/>
                <a:ea typeface="DejaVu Sans"/>
                <a:cs typeface="DejaVu Sans"/>
              </a:rPr>
              <a:t>remained a possible extension.</a:t>
            </a:r>
          </a:p>
        </p:txBody>
      </p:sp>
      <p:sp>
        <p:nvSpPr>
          <p:cNvPr id="7" name="Next iteration">
            <a:extLst xmlns:a="http://schemas.openxmlformats.org/drawingml/2006/main">
              <a:ext uri="{FF2B5EF4-FFF2-40B4-BE49-F238E27FC236}">
                <a16:creationId xmlns:a16="http://schemas.microsoft.com/office/drawing/2014/main" id="{28F1DDB1-FECF-40AA-A777-CA0322F939F0}"/>
              </a:ext>
            </a:extLst>
          </p:cNvPr>
          <p:cNvSpPr>
            <a:spLocks xmlns:a="http://schemas.openxmlformats.org/drawingml/2006/main" noGrp="1"/>
          </p:cNvSpPr>
          <p:nvPr/>
        </p:nvSpPr>
        <p:spPr>
          <a:xfrm xmlns:a="http://schemas.openxmlformats.org/drawingml/2006/main">
            <a:off x="6667500" y="44100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F80"/>
                </a:solidFill>
                <a:latin typeface="DejaVu Sans"/>
                <a:ea typeface="DejaVu Sans"/>
                <a:cs typeface="DejaVu Sans"/>
              </a:defRPr>
            </a:pPr>
            <a:r>
              <a:rPr sz="2100" b="1">
                <a:solidFill>
                  <a:srgbClr val="147F80"/>
                </a:solidFill>
                <a:latin typeface="DejaVu Sans"/>
                <a:ea typeface="DejaVu Sans"/>
                <a:cs typeface="DejaVu Sans"/>
              </a:rPr>
              <a:t>Next iteration</a:t>
            </a:r>
          </a:p>
        </p:txBody>
      </p:sp>
      <p:sp>
        <p:nvSpPr>
          <p:cNvPr id="8" name="Evaluate the material prototype, then calibra">
            <a:extLst xmlns:a="http://schemas.openxmlformats.org/drawingml/2006/main">
              <a:ext uri="{FF2B5EF4-FFF2-40B4-BE49-F238E27FC236}">
                <a16:creationId xmlns:a16="http://schemas.microsoft.com/office/drawing/2014/main" id="{A071032B-86FC-443E-999B-77DE095325B5}"/>
              </a:ext>
            </a:extLst>
          </p:cNvPr>
          <p:cNvSpPr>
            <a:spLocks xmlns:a="http://schemas.openxmlformats.org/drawingml/2006/main" noGrp="1"/>
          </p:cNvSpPr>
          <p:nvPr/>
        </p:nvSpPr>
        <p:spPr>
          <a:xfrm xmlns:a="http://schemas.openxmlformats.org/drawingml/2006/main">
            <a:off x="6667500" y="4924425"/>
            <a:ext cx="48101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4C626E"/>
                </a:solidFill>
                <a:latin typeface="DejaVu Sans"/>
                <a:ea typeface="DejaVu Sans"/>
                <a:cs typeface="DejaVu Sans"/>
              </a:defRPr>
            </a:pPr>
            <a:r>
              <a:rPr sz="1950" b="0">
                <a:solidFill>
                  <a:srgbClr val="4C626E"/>
                </a:solidFill>
                <a:latin typeface="DejaVu Sans"/>
                <a:ea typeface="DejaVu Sans"/>
                <a:cs typeface="DejaVu Sans"/>
              </a:rPr>
              <a:t>Evaluate the material prototype, then calibrate one sensor before designing a wearable layout.</a:t>
            </a:r>
          </a:p>
        </p:txBody>
      </p:sp>
    </p:spTree>
    <p:extLst>
      <p:ext uri="{BB962C8B-B14F-4D97-AF65-F5344CB8AC3E}">
        <p14:creationId xmlns:p14="http://schemas.microsoft.com/office/powerpoint/2010/main" val="855157008"/>
      </p:ext>
    </p:extLst>
  </p:cSld>
</p:sld>
</file>

<file path=ppt/slides/slide9.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0" name="Bridge build and design reflection">
            <a:extLst xmlns:a="http://schemas.openxmlformats.org/drawingml/2006/main">
              <a:ext uri="{FF2B5EF4-FFF2-40B4-BE49-F238E27FC236}">
                <a16:creationId xmlns:a16="http://schemas.microsoft.com/office/drawing/2014/main" id="{0DB09621-2BDE-426F-B728-BA1385B66ADE}"/>
              </a:ext>
            </a:extLst>
          </p:cNvPr>
          <p:cNvSpPr>
            <a:spLocks xmlns:a="http://schemas.openxmlformats.org/drawingml/2006/main" noGrp="1"/>
          </p:cNvSpPr>
          <p:nvPr/>
        </p:nvSpPr>
        <p:spPr>
          <a:xfrm xmlns:a="http://schemas.openxmlformats.org/drawingml/2006/main">
            <a:off x="609600" y="4286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02637"/>
                </a:solidFill>
                <a:latin typeface="DejaVu Sans"/>
                <a:ea typeface="DejaVu Sans"/>
                <a:cs typeface="DejaVu Sans"/>
              </a:defRPr>
            </a:pPr>
            <a:r>
              <a:rPr sz="3450" b="1">
                <a:solidFill>
                  <a:srgbClr val="102637"/>
                </a:solidFill>
                <a:latin typeface="DejaVu Sans"/>
                <a:ea typeface="DejaVu Sans"/>
                <a:cs typeface="DejaVu Sans"/>
              </a:rPr>
              <a:t>Bridge build and design reflection</a:t>
            </a:r>
          </a:p>
        </p:txBody>
      </p:sp>
      <p:sp>
        <p:nvSpPr>
          <p:cNvPr id="2" name="PLTW 2024 · Individual physical build">
            <a:extLst xmlns:a="http://schemas.openxmlformats.org/drawingml/2006/main">
              <a:ext uri="{FF2B5EF4-FFF2-40B4-BE49-F238E27FC236}">
                <a16:creationId xmlns:a16="http://schemas.microsoft.com/office/drawing/2014/main" id="{F9011DF8-B4C0-47A8-BCC8-8E598CF22853}"/>
              </a:ext>
            </a:extLst>
          </p:cNvPr>
          <p:cNvSpPr>
            <a:spLocks xmlns:a="http://schemas.openxmlformats.org/drawingml/2006/main" noGrp="1"/>
          </p:cNvSpPr>
          <p:nvPr/>
        </p:nvSpPr>
        <p:spPr>
          <a:xfrm xmlns:a="http://schemas.openxmlformats.org/drawingml/2006/main">
            <a:off x="609600" y="1190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47F80"/>
                </a:solidFill>
                <a:latin typeface="DejaVu Sans"/>
                <a:ea typeface="DejaVu Sans"/>
                <a:cs typeface="DejaVu Sans"/>
              </a:defRPr>
            </a:pPr>
            <a:r>
              <a:rPr sz="1650" b="0">
                <a:solidFill>
                  <a:srgbClr val="147F80"/>
                </a:solidFill>
                <a:latin typeface="DejaVu Sans"/>
                <a:ea typeface="DejaVu Sans"/>
                <a:cs typeface="DejaVu Sans"/>
              </a:rPr>
              <a:t>PLTW 2024 · Individual physical build</a:t>
            </a:r>
          </a:p>
        </p:txBody>
      </p:sp>
      <p:sp>
        <p:nvSpPr>
          <p:cNvPr id="3" name="Constraints">
            <a:extLst xmlns:a="http://schemas.openxmlformats.org/drawingml/2006/main">
              <a:ext uri="{FF2B5EF4-FFF2-40B4-BE49-F238E27FC236}">
                <a16:creationId xmlns:a16="http://schemas.microsoft.com/office/drawing/2014/main" id="{4CE220DB-3F22-4BCC-86B2-8B9689A6AFC6}"/>
              </a:ext>
            </a:extLst>
          </p:cNvPr>
          <p:cNvSpPr>
            <a:spLocks xmlns:a="http://schemas.openxmlformats.org/drawingml/2006/main" noGrp="1"/>
          </p:cNvSpPr>
          <p:nvPr/>
        </p:nvSpPr>
        <p:spPr>
          <a:xfrm xmlns:a="http://schemas.openxmlformats.org/drawingml/2006/main">
            <a:off x="609600" y="1847850"/>
            <a:ext cx="43719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Constraints</a:t>
            </a:r>
          </a:p>
        </p:txBody>
      </p:sp>
      <p:sp>
        <p:nvSpPr>
          <p:cNvPr id="4" name="At most 60 popsicle sticks and a required 24-">
            <a:extLst xmlns:a="http://schemas.openxmlformats.org/drawingml/2006/main">
              <a:ext uri="{FF2B5EF4-FFF2-40B4-BE49-F238E27FC236}">
                <a16:creationId xmlns:a16="http://schemas.microsoft.com/office/drawing/2014/main" id="{CEE308BB-A341-4E83-AAE0-9543275C060A}"/>
              </a:ext>
            </a:extLst>
          </p:cNvPr>
          <p:cNvSpPr>
            <a:spLocks xmlns:a="http://schemas.openxmlformats.org/drawingml/2006/main" noGrp="1"/>
          </p:cNvSpPr>
          <p:nvPr/>
        </p:nvSpPr>
        <p:spPr>
          <a:xfrm xmlns:a="http://schemas.openxmlformats.org/drawingml/2006/main">
            <a:off x="609600" y="2257425"/>
            <a:ext cx="43719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At most 60 popsicle sticks and a required 24-inch span.</a:t>
            </a:r>
          </a:p>
        </p:txBody>
      </p:sp>
      <p:sp>
        <p:nvSpPr>
          <p:cNvPr id="5" name="Outcome">
            <a:extLst xmlns:a="http://schemas.openxmlformats.org/drawingml/2006/main">
              <a:ext uri="{FF2B5EF4-FFF2-40B4-BE49-F238E27FC236}">
                <a16:creationId xmlns:a16="http://schemas.microsoft.com/office/drawing/2014/main" id="{4DE6399F-274F-4ACD-B471-5D7E42E6A364}"/>
              </a:ext>
            </a:extLst>
          </p:cNvPr>
          <p:cNvSpPr>
            <a:spLocks xmlns:a="http://schemas.openxmlformats.org/drawingml/2006/main" noGrp="1"/>
          </p:cNvSpPr>
          <p:nvPr/>
        </p:nvSpPr>
        <p:spPr>
          <a:xfrm xmlns:a="http://schemas.openxmlformats.org/drawingml/2006/main">
            <a:off x="609600" y="3371850"/>
            <a:ext cx="43719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Outcome</a:t>
            </a:r>
          </a:p>
        </p:txBody>
      </p:sp>
      <p:sp>
        <p:nvSpPr>
          <p:cNvPr id="6" name="The bridge carried a load but fell about four">
            <a:extLst xmlns:a="http://schemas.openxmlformats.org/drawingml/2006/main">
              <a:ext uri="{FF2B5EF4-FFF2-40B4-BE49-F238E27FC236}">
                <a16:creationId xmlns:a16="http://schemas.microsoft.com/office/drawing/2014/main" id="{3C29DEFD-9DC3-41D2-8869-DD63B521FB4A}"/>
              </a:ext>
            </a:extLst>
          </p:cNvPr>
          <p:cNvSpPr>
            <a:spLocks xmlns:a="http://schemas.openxmlformats.org/drawingml/2006/main" noGrp="1"/>
          </p:cNvSpPr>
          <p:nvPr/>
        </p:nvSpPr>
        <p:spPr>
          <a:xfrm xmlns:a="http://schemas.openxmlformats.org/drawingml/2006/main">
            <a:off x="609600" y="3781425"/>
            <a:ext cx="43719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The bridge carried a load but fell about four inches short of the required span.</a:t>
            </a:r>
          </a:p>
        </p:txBody>
      </p:sp>
      <p:sp>
        <p:nvSpPr>
          <p:cNvPr id="7" name="Lesson">
            <a:extLst xmlns:a="http://schemas.openxmlformats.org/drawingml/2006/main">
              <a:ext uri="{FF2B5EF4-FFF2-40B4-BE49-F238E27FC236}">
                <a16:creationId xmlns:a16="http://schemas.microsoft.com/office/drawing/2014/main" id="{2B83B824-1898-49FD-A103-F42B000523FF}"/>
              </a:ext>
            </a:extLst>
          </p:cNvPr>
          <p:cNvSpPr>
            <a:spLocks xmlns:a="http://schemas.openxmlformats.org/drawingml/2006/main" noGrp="1"/>
          </p:cNvSpPr>
          <p:nvPr/>
        </p:nvSpPr>
        <p:spPr>
          <a:xfrm xmlns:a="http://schemas.openxmlformats.org/drawingml/2006/main">
            <a:off x="609600" y="4895850"/>
            <a:ext cx="43719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637"/>
                </a:solidFill>
                <a:latin typeface="DejaVu Sans"/>
                <a:ea typeface="DejaVu Sans"/>
                <a:cs typeface="DejaVu Sans"/>
              </a:defRPr>
            </a:pPr>
            <a:r>
              <a:rPr sz="1950" b="1">
                <a:solidFill>
                  <a:srgbClr val="102637"/>
                </a:solidFill>
                <a:latin typeface="DejaVu Sans"/>
                <a:ea typeface="DejaVu Sans"/>
                <a:cs typeface="DejaVu Sans"/>
              </a:rPr>
              <a:t>Lesson</a:t>
            </a:r>
          </a:p>
        </p:txBody>
      </p:sp>
      <p:sp>
        <p:nvSpPr>
          <p:cNvPr id="8" name="Verify dimensions before bracing. A stronger ">
            <a:extLst xmlns:a="http://schemas.openxmlformats.org/drawingml/2006/main">
              <a:ext uri="{FF2B5EF4-FFF2-40B4-BE49-F238E27FC236}">
                <a16:creationId xmlns:a16="http://schemas.microsoft.com/office/drawing/2014/main" id="{87B61969-7280-4E47-AA0D-0F5866E3A927}"/>
              </a:ext>
            </a:extLst>
          </p:cNvPr>
          <p:cNvSpPr>
            <a:spLocks xmlns:a="http://schemas.openxmlformats.org/drawingml/2006/main" noGrp="1"/>
          </p:cNvSpPr>
          <p:nvPr/>
        </p:nvSpPr>
        <p:spPr>
          <a:xfrm xmlns:a="http://schemas.openxmlformats.org/drawingml/2006/main">
            <a:off x="609600" y="5305425"/>
            <a:ext cx="43719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4C626E"/>
                </a:solidFill>
                <a:latin typeface="DejaVu Sans"/>
                <a:ea typeface="DejaVu Sans"/>
                <a:cs typeface="DejaVu Sans"/>
              </a:defRPr>
            </a:pPr>
            <a:r>
              <a:rPr sz="1800" b="0">
                <a:solidFill>
                  <a:srgbClr val="4C626E"/>
                </a:solidFill>
                <a:latin typeface="DejaVu Sans"/>
                <a:ea typeface="DejaVu Sans"/>
                <a:cs typeface="DejaVu Sans"/>
              </a:rPr>
              <a:t>Verify dimensions before bracing. A stronger structure still has to meet its original requirements.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75303092f3a4758"/>
          <a:stretch xmlns:a="http://schemas.openxmlformats.org/drawingml/2006/main"/>
        </p:blipFill>
        <p:spPr>
          <a:xfrm xmlns:a="http://schemas.openxmlformats.org/drawingml/2006/main">
            <a:off x="5721350" y="2000250"/>
            <a:ext cx="5511800" cy="4133850"/>
          </a:xfrm>
          <a:prstGeom xmlns:a="http://schemas.openxmlformats.org/drawingml/2006/main" prst="rect">
            <a:avLst/>
          </a:prstGeom>
        </p:spPr>
      </p:pic>
    </p:spTree>
    <p:extLst>
      <p:ext uri="{BB962C8B-B14F-4D97-AF65-F5344CB8AC3E}">
        <p14:creationId xmlns:p14="http://schemas.microsoft.com/office/powerpoint/2010/main" val="1426738055"/>
      </p:ext>
    </p:extLst>
  </p:cSld>
</p:sld>
</file>

<file path=ppt/slides/slide10.xml><?xml version="1.0" encoding="utf-8"?>
<p:sld xmlns:p="http://schemas.openxmlformats.org/presentationml/2006/main">
  <p:cSld>
    <p:bg>
      <p:bgPr>
        <a:solidFill xmlns:a="http://schemas.openxmlformats.org/drawingml/2006/main">
          <a:srgbClr val="102637"/>
        </a:solidFill>
      </p:bgPr>
    </p:bg>
    <p:spTree>
      <p:nvGrpSpPr>
        <p:cNvPr id="1" name=""/>
        <p:cNvGrpSpPr/>
        <p:nvPr/>
      </p:nvGrpSpPr>
      <p:grpSpPr>
        <a:xfrm xmlns:a="http://schemas.openxmlformats.org/drawingml/2006/main"/>
      </p:grpSpPr>
      <p:sp>
        <p:nvSpPr>
          <p:cNvPr id="5" name="What I want to build next">
            <a:extLst xmlns:a="http://schemas.openxmlformats.org/drawingml/2006/main">
              <a:ext uri="{FF2B5EF4-FFF2-40B4-BE49-F238E27FC236}">
                <a16:creationId xmlns:a16="http://schemas.microsoft.com/office/drawing/2014/main" id="{404E0AA4-EFC6-4FEB-8734-C17AF4C1A17A}"/>
              </a:ext>
            </a:extLst>
          </p:cNvPr>
          <p:cNvSpPr>
            <a:spLocks xmlns:a="http://schemas.openxmlformats.org/drawingml/2006/main" noGrp="1"/>
          </p:cNvSpPr>
          <p:nvPr/>
        </p:nvSpPr>
        <p:spPr>
          <a:xfrm xmlns:a="http://schemas.openxmlformats.org/drawingml/2006/main">
            <a:off x="609600" y="742950"/>
            <a:ext cx="10715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FFFFFF"/>
                </a:solidFill>
                <a:latin typeface="DejaVu Sans"/>
                <a:ea typeface="DejaVu Sans"/>
                <a:cs typeface="DejaVu Sans"/>
              </a:defRPr>
            </a:pPr>
            <a:r>
              <a:rPr sz="3900" b="1">
                <a:solidFill>
                  <a:srgbClr val="FFFFFF"/>
                </a:solidFill>
                <a:latin typeface="DejaVu Sans"/>
                <a:ea typeface="DejaVu Sans"/>
                <a:cs typeface="DejaVu Sans"/>
              </a:rPr>
              <a:t>What I want to build next</a:t>
            </a:r>
          </a:p>
        </p:txBody>
      </p:sp>
      <p:sp>
        <p:nvSpPr>
          <p:cNvPr id="2" name="Embedded systems that sense the physical worl">
            <a:extLst xmlns:a="http://schemas.openxmlformats.org/drawingml/2006/main">
              <a:ext uri="{FF2B5EF4-FFF2-40B4-BE49-F238E27FC236}">
                <a16:creationId xmlns:a16="http://schemas.microsoft.com/office/drawing/2014/main" id="{A0271EC6-ABB9-4FC6-82E2-0DD107843D53}"/>
              </a:ext>
            </a:extLst>
          </p:cNvPr>
          <p:cNvSpPr>
            <a:spLocks xmlns:a="http://schemas.openxmlformats.org/drawingml/2006/main" noGrp="1"/>
          </p:cNvSpPr>
          <p:nvPr/>
        </p:nvSpPr>
        <p:spPr>
          <a:xfrm xmlns:a="http://schemas.openxmlformats.org/drawingml/2006/main">
            <a:off x="609600" y="20669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DEE7EA"/>
                </a:solidFill>
                <a:latin typeface="DejaVu Sans"/>
                <a:ea typeface="DejaVu Sans"/>
                <a:cs typeface="DejaVu Sans"/>
              </a:defRPr>
            </a:pPr>
            <a:r>
              <a:rPr sz="2850" b="0">
                <a:solidFill>
                  <a:srgbClr val="DEE7EA"/>
                </a:solidFill>
                <a:latin typeface="DejaVu Sans"/>
                <a:ea typeface="DejaVu Sans"/>
                <a:cs typeface="DejaVu Sans"/>
              </a:rPr>
              <a:t>Embedded systems that sense the physical world</a:t>
            </a:r>
          </a:p>
          <a:p xmlns:a="http://schemas.openxmlformats.org/drawingml/2006/main">
            <a:pPr>
              <a:defRPr sz="2850" b="0">
                <a:solidFill>
                  <a:srgbClr val="DEE7EA"/>
                </a:solidFill>
                <a:latin typeface="DejaVu Sans"/>
                <a:ea typeface="DejaVu Sans"/>
                <a:cs typeface="DejaVu Sans"/>
              </a:defRPr>
            </a:pPr>
            <a:r>
              <a:rPr sz="2850" b="0">
                <a:solidFill>
                  <a:srgbClr val="DEE7EA"/>
                </a:solidFill>
                <a:latin typeface="DejaVu Sans"/>
                <a:ea typeface="DejaVu Sans"/>
                <a:cs typeface="DejaVu Sans"/>
              </a:rPr>
              <a:t>and respond reliably.</a:t>
            </a:r>
          </a:p>
        </p:txBody>
      </p:sp>
      <p:sp>
        <p:nvSpPr>
          <p:cNvPr id="3" name="I’m developing my C and embedded programming ">
            <a:extLst xmlns:a="http://schemas.openxmlformats.org/drawingml/2006/main">
              <a:ext uri="{FF2B5EF4-FFF2-40B4-BE49-F238E27FC236}">
                <a16:creationId xmlns:a16="http://schemas.microsoft.com/office/drawing/2014/main" id="{D01A28C6-69E8-4918-8801-3BA6A9A3C814}"/>
              </a:ext>
            </a:extLst>
          </p:cNvPr>
          <p:cNvSpPr>
            <a:spLocks xmlns:a="http://schemas.openxmlformats.org/drawingml/2006/main" noGrp="1"/>
          </p:cNvSpPr>
          <p:nvPr/>
        </p:nvSpPr>
        <p:spPr>
          <a:xfrm xmlns:a="http://schemas.openxmlformats.org/drawingml/2006/main">
            <a:off x="609600" y="3810000"/>
            <a:ext cx="10668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9C9D0"/>
                </a:solidFill>
                <a:latin typeface="DejaVu Sans"/>
                <a:ea typeface="DejaVu Sans"/>
                <a:cs typeface="DejaVu Sans"/>
              </a:defRPr>
            </a:pPr>
            <a:r>
              <a:rPr sz="2100" b="0">
                <a:solidFill>
                  <a:srgbClr val="B9C9D0"/>
                </a:solidFill>
                <a:latin typeface="DejaVu Sans"/>
                <a:ea typeface="DejaVu Sans"/>
                <a:cs typeface="DejaVu Sans"/>
              </a:rPr>
              <a:t>I’m developing my C and embedded programming skills.</a:t>
            </a:r>
          </a:p>
          <a:p xmlns:a="http://schemas.openxmlformats.org/drawingml/2006/main">
            <a:pPr>
              <a:defRPr sz="2100" b="0">
                <a:solidFill>
                  <a:srgbClr val="B9C9D0"/>
                </a:solidFill>
                <a:latin typeface="DejaVu Sans"/>
                <a:ea typeface="DejaVu Sans"/>
                <a:cs typeface="DejaVu Sans"/>
              </a:defRPr>
            </a:pPr>
            <a:r>
              <a:rPr sz="2100" b="0">
                <a:solidFill>
                  <a:srgbClr val="B9C9D0"/>
                </a:solidFill>
                <a:latin typeface="DejaVu Sans"/>
                <a:ea typeface="DejaVu Sans"/>
                <a:cs typeface="DejaVu Sans"/>
              </a:rPr>
              <a:t>I’m looking for robotics, hardware, and research teams</a:t>
            </a:r>
          </a:p>
          <a:p xmlns:a="http://schemas.openxmlformats.org/drawingml/2006/main">
            <a:pPr>
              <a:defRPr sz="2100" b="0">
                <a:solidFill>
                  <a:srgbClr val="B9C9D0"/>
                </a:solidFill>
                <a:latin typeface="DejaVu Sans"/>
                <a:ea typeface="DejaVu Sans"/>
                <a:cs typeface="DejaVu Sans"/>
              </a:defRPr>
            </a:pPr>
            <a:r>
              <a:rPr sz="2100" b="0">
                <a:solidFill>
                  <a:srgbClr val="B9C9D0"/>
                </a:solidFill>
                <a:latin typeface="DejaVu Sans"/>
                <a:ea typeface="DejaVu Sans"/>
                <a:cs typeface="DejaVu Sans"/>
              </a:rPr>
              <a:t>where I can contribute while continuing to learn.</a:t>
            </a:r>
          </a:p>
        </p:txBody>
      </p:sp>
      <p:sp>
        <p:nvSpPr>
          <p:cNvPr id="4" name="rcortezcadenas@ucsd.edu&#10;github.com/pur35t/Bri">
            <a:extLst xmlns:a="http://schemas.openxmlformats.org/drawingml/2006/main">
              <a:ext uri="{FF2B5EF4-FFF2-40B4-BE49-F238E27FC236}">
                <a16:creationId xmlns:a16="http://schemas.microsoft.com/office/drawing/2014/main" id="{3E0F7382-7769-4CD8-8E49-2A0A301E5B03}"/>
              </a:ext>
            </a:extLst>
          </p:cNvPr>
          <p:cNvSpPr>
            <a:spLocks xmlns:a="http://schemas.openxmlformats.org/drawingml/2006/main" noGrp="1"/>
          </p:cNvSpPr>
          <p:nvPr/>
        </p:nvSpPr>
        <p:spPr>
          <a:xfrm xmlns:a="http://schemas.openxmlformats.org/drawingml/2006/main">
            <a:off x="609600" y="561975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7BC8C3"/>
                </a:solidFill>
                <a:latin typeface="DejaVu Sans"/>
                <a:ea typeface="DejaVu Sans"/>
                <a:cs typeface="DejaVu Sans"/>
              </a:defRPr>
            </a:pPr>
            <a:r>
              <a:rPr sz="1800" b="0">
                <a:solidFill>
                  <a:srgbClr val="7BC8C3"/>
                </a:solidFill>
                <a:latin typeface="DejaVu Sans"/>
                <a:ea typeface="DejaVu Sans"/>
                <a:cs typeface="DejaVu Sans"/>
              </a:rPr>
              <a:t>rcortezcadenas@ucsd.edu</a:t>
            </a:r>
          </a:p>
          <a:p xmlns:a="http://schemas.openxmlformats.org/drawingml/2006/main">
            <a:pPr>
              <a:defRPr sz="1800" b="0">
                <a:solidFill>
                  <a:srgbClr val="7BC8C3"/>
                </a:solidFill>
                <a:latin typeface="DejaVu Sans"/>
                <a:ea typeface="DejaVu Sans"/>
                <a:cs typeface="DejaVu Sans"/>
              </a:defRPr>
            </a:pPr>
            <a:r>
              <a:rPr sz="1800" b="0">
                <a:solidFill>
                  <a:srgbClr val="7BC8C3"/>
                </a:solidFill>
                <a:latin typeface="DejaVu Sans"/>
                <a:ea typeface="DejaVu Sans"/>
                <a:cs typeface="DejaVu Sans"/>
              </a:rPr>
              <a:t>github.com/pur35t/Brief-Projects-</a:t>
            </a:r>
          </a:p>
        </p:txBody>
      </p:sp>
    </p:spTree>
    <p:extLst>
      <p:ext uri="{BB962C8B-B14F-4D97-AF65-F5344CB8AC3E}">
        <p14:creationId xmlns:p14="http://schemas.microsoft.com/office/powerpoint/2010/main" val="14687079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2026-10-03T06:07:22.3100000Z</dcterms:created>
  <dcterms:modified xsi:type="dcterms:W3CDTF">2026-10-03T06:07:22.3100000Z</dcterms:modified>
</coreProperties>
</file>