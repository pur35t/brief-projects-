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086b4bdfb84b23" /><Relationship Type="http://schemas.openxmlformats.org/officeDocument/2006/relationships/extended-properties" Target="/docProps/app.xml" Id="R07bb3d54cb644f9c" /><Relationship Type="http://schemas.openxmlformats.org/officeDocument/2006/relationships/officeDocument" Target="/ppt/presentation.xml" Id="R75ffcaf54e9d49b1" /></Relationships>
</file>

<file path=ppt/presentation.xml><?xml version="1.0" encoding="utf-8"?>
<p:presentation xmlns:p="http://schemas.openxmlformats.org/presentationml/2006/main">
  <p:sldMasterIdLst>
    <p:sldMasterId xmlns:r="http://schemas.openxmlformats.org/officeDocument/2006/relationships" id="2147483648" r:id="Rc7e60f0e1d3248e0"/>
  </p:sldMasterIdLst>
  <p:notesMasterIdLst>
    <p:notesMasterId xmlns:r="http://schemas.openxmlformats.org/officeDocument/2006/relationships" r:id="R41e3701740df46b2"/>
  </p:notesMasterIdLst>
  <p:sldIdLst>
    <p:sldId xmlns:r="http://schemas.openxmlformats.org/officeDocument/2006/relationships" id="256" r:id="R9d9b88f948fd4292"/>
    <p:sldId xmlns:r="http://schemas.openxmlformats.org/officeDocument/2006/relationships" id="257" r:id="R61479e5c89224079"/>
    <p:sldId xmlns:r="http://schemas.openxmlformats.org/officeDocument/2006/relationships" id="258" r:id="R92679fea4c864f93"/>
    <p:sldId xmlns:r="http://schemas.openxmlformats.org/officeDocument/2006/relationships" id="259" r:id="Reec40fd15172426b"/>
    <p:sldId xmlns:r="http://schemas.openxmlformats.org/officeDocument/2006/relationships" id="260" r:id="R3cb453b67e88469a"/>
    <p:sldId xmlns:r="http://schemas.openxmlformats.org/officeDocument/2006/relationships" id="261" r:id="R0c6907448dbf4b29"/>
    <p:sldId xmlns:r="http://schemas.openxmlformats.org/officeDocument/2006/relationships" id="262" r:id="Rd07363ae05914acb"/>
    <p:sldId xmlns:r="http://schemas.openxmlformats.org/officeDocument/2006/relationships" id="263" r:id="R454c2b286a2845cc"/>
    <p:sldId xmlns:r="http://schemas.openxmlformats.org/officeDocument/2006/relationships" id="264" r:id="Rfbe8e6e23e5e40b0"/>
    <p:sldId xmlns:r="http://schemas.openxmlformats.org/officeDocument/2006/relationships" id="265" r:id="R954affbbae784ebd"/>
    <p:sldId xmlns:r="http://schemas.openxmlformats.org/officeDocument/2006/relationships" id="266" r:id="Re90488b268db4033"/>
    <p:sldId xmlns:r="http://schemas.openxmlformats.org/officeDocument/2006/relationships" id="267" r:id="R24b803ca3a034d26"/>
    <p:sldId xmlns:r="http://schemas.openxmlformats.org/officeDocument/2006/relationships" id="268" r:id="R96795b869b4c42d6"/>
    <p:sldId xmlns:r="http://schemas.openxmlformats.org/officeDocument/2006/relationships" id="269" r:id="R65b4b2d7a6db4fe1"/>
    <p:sldId xmlns:r="http://schemas.openxmlformats.org/officeDocument/2006/relationships" id="270" r:id="R352edddf8dbe47b4"/>
    <p:sldId xmlns:r="http://schemas.openxmlformats.org/officeDocument/2006/relationships" id="271" r:id="R4fe306465f4345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68757ba148473a" /><Relationship Type="http://schemas.openxmlformats.org/officeDocument/2006/relationships/slideMaster" Target="/ppt/slideMasters/slideMaster1.xml" Id="Rc7e60f0e1d3248e0" /><Relationship Type="http://schemas.openxmlformats.org/officeDocument/2006/relationships/notesMaster" Target="/ppt/notesMasters/notesMaster1.xml" Id="R41e3701740df46b2" /><Relationship Type="http://schemas.openxmlformats.org/officeDocument/2006/relationships/presProps" Target="/ppt/presProps.xml" Id="R056211c1993c4166" /><Relationship Type="http://schemas.openxmlformats.org/officeDocument/2006/relationships/tableStyles" Target="/ppt/tableStyles.xml" Id="R9b5942407cf64c02" /><Relationship Type="http://schemas.openxmlformats.org/officeDocument/2006/relationships/slide" Target="/ppt/slides/slide1.xml" Id="R9d9b88f948fd4292" /><Relationship Type="http://schemas.openxmlformats.org/officeDocument/2006/relationships/slide" Target="/ppt/slides/slide2.xml" Id="R61479e5c89224079" /><Relationship Type="http://schemas.openxmlformats.org/officeDocument/2006/relationships/slide" Target="/ppt/slides/slide3.xml" Id="R92679fea4c864f93" /><Relationship Type="http://schemas.openxmlformats.org/officeDocument/2006/relationships/slide" Target="/ppt/slides/slide4.xml" Id="Reec40fd15172426b" /><Relationship Type="http://schemas.openxmlformats.org/officeDocument/2006/relationships/slide" Target="/ppt/slides/slide5.xml" Id="R3cb453b67e88469a" /><Relationship Type="http://schemas.openxmlformats.org/officeDocument/2006/relationships/slide" Target="/ppt/slides/slide6.xml" Id="R0c6907448dbf4b29" /><Relationship Type="http://schemas.openxmlformats.org/officeDocument/2006/relationships/slide" Target="/ppt/slides/slide7.xml" Id="Rd07363ae05914acb" /><Relationship Type="http://schemas.openxmlformats.org/officeDocument/2006/relationships/slide" Target="/ppt/slides/slide8.xml" Id="R454c2b286a2845cc" /><Relationship Type="http://schemas.openxmlformats.org/officeDocument/2006/relationships/slide" Target="/ppt/slides/slide9.xml" Id="Rfbe8e6e23e5e40b0" /><Relationship Type="http://schemas.openxmlformats.org/officeDocument/2006/relationships/slide" Target="/ppt/slides/slide10.xml" Id="R954affbbae784ebd" /><Relationship Type="http://schemas.openxmlformats.org/officeDocument/2006/relationships/slide" Target="/ppt/slides/slide11.xml" Id="Re90488b268db4033" /><Relationship Type="http://schemas.openxmlformats.org/officeDocument/2006/relationships/slide" Target="/ppt/slides/slide12.xml" Id="R24b803ca3a034d26" /><Relationship Type="http://schemas.openxmlformats.org/officeDocument/2006/relationships/slide" Target="/ppt/slides/slide13.xml" Id="R96795b869b4c42d6" /><Relationship Type="http://schemas.openxmlformats.org/officeDocument/2006/relationships/slide" Target="/ppt/slides/slide14.xml" Id="R65b4b2d7a6db4fe1" /><Relationship Type="http://schemas.openxmlformats.org/officeDocument/2006/relationships/slide" Target="/ppt/slides/slide15.xml" Id="R352edddf8dbe47b4" /><Relationship Type="http://schemas.openxmlformats.org/officeDocument/2006/relationships/slide" Target="/ppt/slides/slide16.xml" Id="R4fe306465f4345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03921da38845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49f0bc7eb34469" /><Relationship Type="http://schemas.openxmlformats.org/officeDocument/2006/relationships/notesMaster" Target="/ppt/notesMasters/notesMaster1.xml" Id="R66214d4983434c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c824c0214a4cad" /><Relationship Type="http://schemas.openxmlformats.org/officeDocument/2006/relationships/notesMaster" Target="/ppt/notesMasters/notesMaster1.xml" Id="R4dd945b8cc6b4f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b67e47f148408e" /><Relationship Type="http://schemas.openxmlformats.org/officeDocument/2006/relationships/notesMaster" Target="/ppt/notesMasters/notesMaster1.xml" Id="R579981978a0446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c644cba33d4ac5" /><Relationship Type="http://schemas.openxmlformats.org/officeDocument/2006/relationships/notesMaster" Target="/ppt/notesMasters/notesMaster1.xml" Id="R2a01a14e2a8a46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d3b8b0febc488b" /><Relationship Type="http://schemas.openxmlformats.org/officeDocument/2006/relationships/notesMaster" Target="/ppt/notesMasters/notesMaster1.xml" Id="R64d88340f6ca4a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2094726c834317" /><Relationship Type="http://schemas.openxmlformats.org/officeDocument/2006/relationships/notesMaster" Target="/ppt/notesMasters/notesMaster1.xml" Id="R8965fd493ad345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db335ac8b144a3" /><Relationship Type="http://schemas.openxmlformats.org/officeDocument/2006/relationships/notesMaster" Target="/ppt/notesMasters/notesMaster1.xml" Id="Rd71ffe3b0d6f40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3cada576ff4aa1" /><Relationship Type="http://schemas.openxmlformats.org/officeDocument/2006/relationships/notesMaster" Target="/ppt/notesMasters/notesMaster1.xml" Id="Re773389f6f3f4c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d19a3c2b5d446a" /><Relationship Type="http://schemas.openxmlformats.org/officeDocument/2006/relationships/notesMaster" Target="/ppt/notesMasters/notesMaster1.xml" Id="R9cf243d6a9bb42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cb19a76ea44383" /><Relationship Type="http://schemas.openxmlformats.org/officeDocument/2006/relationships/notesMaster" Target="/ppt/notesMasters/notesMaster1.xml" Id="R4f5b555ceeae47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e681fb14844ba4" /><Relationship Type="http://schemas.openxmlformats.org/officeDocument/2006/relationships/notesMaster" Target="/ppt/notesMasters/notesMaster1.xml" Id="R4f22f3b1757448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6efadc79c44d4c" /><Relationship Type="http://schemas.openxmlformats.org/officeDocument/2006/relationships/notesMaster" Target="/ppt/notesMasters/notesMaster1.xml" Id="Re27314040a4342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b8d40ae3d048d7" /><Relationship Type="http://schemas.openxmlformats.org/officeDocument/2006/relationships/notesMaster" Target="/ppt/notesMasters/notesMaster1.xml" Id="R348a902b362e45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18db0d3e68446d" /><Relationship Type="http://schemas.openxmlformats.org/officeDocument/2006/relationships/notesMaster" Target="/ppt/notesMasters/notesMaster1.xml" Id="R4cd2b0fa002b42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b4340b736d43da" /><Relationship Type="http://schemas.openxmlformats.org/officeDocument/2006/relationships/notesMaster" Target="/ppt/notesMasters/notesMaster1.xml" Id="R5414449e0b3b45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c280c863764504" /><Relationship Type="http://schemas.openxmlformats.org/officeDocument/2006/relationships/notesMaster" Target="/ppt/notesMasters/notesMaster1.xml" Id="R723067cc7a4d45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 from user-provided context. First-year EE student at UC San Diego, October 2026. Projects on later slides distinguish completed work, team contributions, and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 earlier SPIS chess-camera description. Approximately 98% and one error were reported for informal testing. Trial size and logs are unavailable. No code repository was supplied. Personal contribution: team development, testing, and tuning; sole code authorship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engineering/Engineering_WrittenReport_Template.docx, Automated Guided Vehicle Project Tank Edition. Team: Nayeli Leyva, Rigoberto Cortez, Emiliano Banuelos. Photos from report. Report states code was unfinished. Assignment required a ¼-inch line, a 6-second intersection stop, cargo, manual start, emergency stop, and obstacle sensing.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Photos and sketch from Engineering_WrittenReport_Template.docx. Team project. Image evidence does not establish fully completed RobotC control 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Speaker construction(1).pdf, sections 1–5 and 7–9. CAD image extracted from page 13. Dimensions from proposal. Partial enclosure CAD, not a physically built speaker. Proposed ESP32 and four ToF sensors.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Speaker construction(1).pdf. Proposed 2.0-channel module does not establish four independent outputs. Next steps here are editorial synthesis of the proposal’s requirements and unresolved decisions, not completed implementation. No measured power or acoustic benefits. CAD image from page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concept sketch extracted from page 4 of Speaker construction(1).pdf. This is an early concept. The final proposal specifies 4.5-inch height even though the early notebook dimensions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Group Chess Board Assembly archive. Knight, Steve pawn, and wolf bishop title blocks credit Rigoberto Cortez Cadenas. Other drawings credit Natalie Munoz, Stephanie Garcia Solis, and Emiliano Banuelos. Assembly is shared. STEP files from engineering archive; physical printing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STEP geometry from engineering archive. Model view renders source geometry in a presentation display color. Original dimensioned drawing title block credits Rigoberto Cortez Cadenas. No physical print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STEP geometry from engineering archive. Model view renders source geometry in a presentation display color. Original dimensioned drawing title block credits Rigoberto Cortez Cadenas. No physical print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STEP geometry from engineering archive. Model view renders source geometry in a presentation display color. Original dimensioned drawing title block credits Rigoberto Cortez Cadenas. No physical print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Copy of 2.3.7 Container Design Documentation.docx, dated 4/22/25; Copy of 2.3.4.A CAMStrategyPracticePart1 .docx; Copy of 2.3.6 CAMStrategyPractice_.docx. No finished machined-part photo or verified run. STEP files in Chest Cool Assembly archive; authorship not independently established by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Copy of 2.3.7 Container Design Documentation.docx and CAM practice worksheets. Images preserve sketches and machining simulations. No completed machining run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building bridges reflection.docx, dated 12/19/24. Constraints: max 60 sticks, 24-inch span. Report says build fell approximately 4 inches short and gives no measured maximum load. This is separate from the balsa tower. Photograph from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Chest Cool Assembly/emili folder/Assembly1cooler.stp. Views render the supplied assembly geometry. Rigoberto’s specific cooler geometry and role are not established by the archive. Team context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Interests and current learning from user-provided context. Repository is private unless owner changes access. Contact email provided in user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520babd9664a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ae9b5df8284e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5bf8e6a8154c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29e8a851e64e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3457ed54804e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fe0b64245c45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E56F987-6883-49EF-A7DA-7A10549015A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EFD6770-876F-4DB7-BDDB-265E5F0FC2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05A5383-28E0-4D03-B6A7-AAAD41D336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A9B6680-E962-40F0-B78E-CA0B23BD9094}"/>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16F9D9B-1036-464D-ADB2-07BA93CA37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00A2833-FC16-4F4B-B68D-18040F35B12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2C97226-984A-4392-AFF0-1612970728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591CCA7-AA00-4EBF-8784-CBC795161C3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88122E2-DF3C-4B01-AF58-12EF0981ED0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A1645DB-A844-4DFA-B988-7CED8613C9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773A1D2-2A58-4795-8DA6-8995785E94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F5E2C00-CADA-45A3-A608-54B282AD5D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0F7866B-C7B5-40A8-80CB-7DB3C33B8E5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1CC6916-1178-4F99-A332-9EA920B0E1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2F103E9-252D-43D3-86ED-8CEBE953FE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edda811ff1421d" /><Relationship Type="http://schemas.openxmlformats.org/officeDocument/2006/relationships/slideLayout" Target="/ppt/slideLayouts/slideLayout1.xml" Id="R2337f1e115cd4804" /><Relationship Type="http://schemas.openxmlformats.org/officeDocument/2006/relationships/slideLayout" Target="/ppt/slideLayouts/slideLayout2.xml" Id="R11b89cc4da9a4cff" /><Relationship Type="http://schemas.openxmlformats.org/officeDocument/2006/relationships/slideLayout" Target="/ppt/slideLayouts/slideLayout3.xml" Id="Ra58d912e833d45a3" /><Relationship Type="http://schemas.openxmlformats.org/officeDocument/2006/relationships/slideLayout" Target="/ppt/slideLayouts/slideLayout4.xml" Id="R5717e280a4964fec" /><Relationship Type="http://schemas.openxmlformats.org/officeDocument/2006/relationships/slideLayout" Target="/ppt/slideLayouts/slideLayout5.xml" Id="R8060662127f5467c" /><Relationship Type="http://schemas.openxmlformats.org/officeDocument/2006/relationships/slideLayout" Target="/ppt/slideLayouts/slideLayout6.xml" Id="R19b9a89b17644f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37f1e115cd4804"/>
    <p:sldLayoutId xmlns:r="http://schemas.openxmlformats.org/officeDocument/2006/relationships" id="2147483650" r:id="R11b89cc4da9a4cff"/>
    <p:sldLayoutId xmlns:r="http://schemas.openxmlformats.org/officeDocument/2006/relationships" id="2147483651" r:id="Ra58d912e833d45a3"/>
    <p:sldLayoutId xmlns:r="http://schemas.openxmlformats.org/officeDocument/2006/relationships" id="2147483652" r:id="R5717e280a4964fec"/>
    <p:sldLayoutId xmlns:r="http://schemas.openxmlformats.org/officeDocument/2006/relationships" id="2147483653" r:id="R8060662127f5467c"/>
    <p:sldLayoutId xmlns:r="http://schemas.openxmlformats.org/officeDocument/2006/relationships" id="2147483654" r:id="R19b9a89b17644f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dbfa2fd49d4eba" /><Relationship Type="http://schemas.openxmlformats.org/officeDocument/2006/relationships/notesSlide" Target="/ppt/notesSlides/notesSlide1.xml" Id="R9eb6f5059fa94c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e3f0e4ddf134e83" /><Relationship Type="http://schemas.openxmlformats.org/officeDocument/2006/relationships/notesSlide" Target="/ppt/notesSlides/notesSlide2.xml" Id="R1c62364e626f4d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6f5bde11fc48f2" /><Relationship Type="http://schemas.openxmlformats.org/officeDocument/2006/relationships/image" Target="/ppt/media/image.jpeg" Id="R1abc4550f05c48e8" /><Relationship Type="http://schemas.openxmlformats.org/officeDocument/2006/relationships/notesSlide" Target="/ppt/notesSlides/notesSlide3.xml" Id="Raa390e2b974740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abd73f3c9d4bea" /><Relationship Type="http://schemas.openxmlformats.org/officeDocument/2006/relationships/image" Target="/ppt/media/image2.jpeg" Id="Rf0ef64f7e4674e7e" /><Relationship Type="http://schemas.openxmlformats.org/officeDocument/2006/relationships/image" Target="/ppt/media/image3.jpeg" Id="Rb56920b8cb1e47aa" /><Relationship Type="http://schemas.openxmlformats.org/officeDocument/2006/relationships/image" Target="/ppt/media/image4.jpeg" Id="R8b96d3c8fd764f1a" /><Relationship Type="http://schemas.openxmlformats.org/officeDocument/2006/relationships/image" Target="/ppt/media/image5.jpeg" Id="R228fcf2717cb4018" /><Relationship Type="http://schemas.openxmlformats.org/officeDocument/2006/relationships/notesSlide" Target="/ppt/notesSlides/notesSlide4.xml" Id="R5097730665d949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d4f34ee205442b" /><Relationship Type="http://schemas.openxmlformats.org/officeDocument/2006/relationships/image" Target="/ppt/media/image.png" Id="Rbb219b2b03814692" /><Relationship Type="http://schemas.openxmlformats.org/officeDocument/2006/relationships/notesSlide" Target="/ppt/notesSlides/notesSlide5.xml" Id="R193a4613e85f44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46028e4e2f4364" /><Relationship Type="http://schemas.openxmlformats.org/officeDocument/2006/relationships/image" Target="/ppt/media/image2.png" Id="Re21cd080965f4163" /><Relationship Type="http://schemas.openxmlformats.org/officeDocument/2006/relationships/notesSlide" Target="/ppt/notesSlides/notesSlide6.xml" Id="Rbbf88e97482f49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b57dba9592424f" /><Relationship Type="http://schemas.openxmlformats.org/officeDocument/2006/relationships/image" Target="/ppt/media/image6.jpeg" Id="R9798e4d769804eba" /><Relationship Type="http://schemas.openxmlformats.org/officeDocument/2006/relationships/notesSlide" Target="/ppt/notesSlides/notesSlide7.xml" Id="R1250cb45b24e4e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ebd03e0e3c43a6" /><Relationship Type="http://schemas.openxmlformats.org/officeDocument/2006/relationships/image" Target="/ppt/media/image3.png" Id="R8818e8b329b0413d" /><Relationship Type="http://schemas.openxmlformats.org/officeDocument/2006/relationships/notesSlide" Target="/ppt/notesSlides/notesSlide8.xml" Id="R86c6efb5a20147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7693d513fab4db1" /><Relationship Type="http://schemas.openxmlformats.org/officeDocument/2006/relationships/image" Target="/ppt/media/image7.jpeg" Id="Rf8ee6ab9c7914ab2" /><Relationship Type="http://schemas.openxmlformats.org/officeDocument/2006/relationships/image" Target="/ppt/media/image4.png" Id="Rc055e61c220042fb" /><Relationship Type="http://schemas.openxmlformats.org/officeDocument/2006/relationships/notesSlide" Target="/ppt/notesSlides/notesSlide9.xml" Id="R549e0bd871a146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80340ecb8b4032" /><Relationship Type="http://schemas.openxmlformats.org/officeDocument/2006/relationships/image" Target="/ppt/media/image8.jpeg" Id="Rd0405e2ed87c4e23" /><Relationship Type="http://schemas.openxmlformats.org/officeDocument/2006/relationships/image" Target="/ppt/media/image5.png" Id="R26955462ee9d4cb6" /><Relationship Type="http://schemas.openxmlformats.org/officeDocument/2006/relationships/notesSlide" Target="/ppt/notesSlides/notesSlide10.xml" Id="Racb65db7b3374c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ea0235a5ea49b6" /><Relationship Type="http://schemas.openxmlformats.org/officeDocument/2006/relationships/image" Target="/ppt/media/image9.jpeg" Id="R22b30f77c8d748e6" /><Relationship Type="http://schemas.openxmlformats.org/officeDocument/2006/relationships/image" Target="/ppt/media/image6.png" Id="Rd2fb701229d148e1" /><Relationship Type="http://schemas.openxmlformats.org/officeDocument/2006/relationships/notesSlide" Target="/ppt/notesSlides/notesSlide11.xml" Id="R8d3886c600694c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be262007de4f58" /><Relationship Type="http://schemas.openxmlformats.org/officeDocument/2006/relationships/image" Target="/ppt/media/image7.png" Id="Rd6f7cdf832e941b6" /><Relationship Type="http://schemas.openxmlformats.org/officeDocument/2006/relationships/image" Target="/ppt/media/image8.png" Id="R2e5e9e24bea5439a" /><Relationship Type="http://schemas.openxmlformats.org/officeDocument/2006/relationships/notesSlide" Target="/ppt/notesSlides/notesSlide12.xml" Id="Ra8831d0123504d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557ede0ea44d16" /><Relationship Type="http://schemas.openxmlformats.org/officeDocument/2006/relationships/image" Target="/ppt/media/image10.jpeg" Id="R3847c7294e534029" /><Relationship Type="http://schemas.openxmlformats.org/officeDocument/2006/relationships/image" Target="/ppt/media/image9.png" Id="R2d41a916fd2b4afd" /><Relationship Type="http://schemas.openxmlformats.org/officeDocument/2006/relationships/image" Target="/ppt/media/image10.png" Id="R5fe15fdf2e754397" /><Relationship Type="http://schemas.openxmlformats.org/officeDocument/2006/relationships/notesSlide" Target="/ppt/notesSlides/notesSlide13.xml" Id="R27e3f41b79234f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b03c55bf2f4b95" /><Relationship Type="http://schemas.openxmlformats.org/officeDocument/2006/relationships/image" Target="/ppt/media/image11.jpeg" Id="Rc671d587ed84423a" /><Relationship Type="http://schemas.openxmlformats.org/officeDocument/2006/relationships/image" Target="/ppt/media/image12.jpeg" Id="Rd2eae93ce1f74191" /><Relationship Type="http://schemas.openxmlformats.org/officeDocument/2006/relationships/image" Target="/ppt/media/image13.jpeg" Id="Rb5412668accd4da8" /><Relationship Type="http://schemas.openxmlformats.org/officeDocument/2006/relationships/notesSlide" Target="/ppt/notesSlides/notesSlide14.xml" Id="R6d20fb3c7f6f44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54b377bd9704e29" /><Relationship Type="http://schemas.openxmlformats.org/officeDocument/2006/relationships/image" Target="/ppt/media/image14.jpeg" Id="R58ad1145a7cd4008" /><Relationship Type="http://schemas.openxmlformats.org/officeDocument/2006/relationships/image" Target="/ppt/media/image15.jpeg" Id="R9f953133eebe4d2c" /><Relationship Type="http://schemas.openxmlformats.org/officeDocument/2006/relationships/notesSlide" Target="/ppt/notesSlides/notesSlide15.xml" Id="R4f3da532b40b4a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965bb8d06f4fe3" /><Relationship Type="http://schemas.openxmlformats.org/officeDocument/2006/relationships/notesSlide" Target="/ppt/notesSlides/notesSlide16.xml" Id="Rbb096d00341f4e13" /></Relationships>
</file>

<file path=ppt/slides/slide1.xml><?xml version="1.0" encoding="utf-8"?>
<p:sld xmlns:p="http://schemas.openxmlformats.org/presentationml/2006/main">
  <p:cSld>
    <p:bg>
      <p:bgPr>
        <a:solidFill xmlns:a="http://schemas.openxmlformats.org/drawingml/2006/main">
          <a:srgbClr val="102637"/>
        </a:solidFill>
      </p:bgPr>
    </p:bg>
    <p:spTree>
      <p:nvGrpSpPr>
        <p:cNvPr id="1" name=""/>
        <p:cNvGrpSpPr/>
        <p:nvPr/>
      </p:nvGrpSpPr>
      <p:grpSpPr>
        <a:xfrm xmlns:a="http://schemas.openxmlformats.org/drawingml/2006/main"/>
      </p:grpSpPr>
      <p:sp>
        <p:nvSpPr>
          <p:cNvPr id="5" name="Rigoberto&#10;Cortez">
            <a:extLst xmlns:a="http://schemas.openxmlformats.org/drawingml/2006/main">
              <a:ext uri="{FF2B5EF4-FFF2-40B4-BE49-F238E27FC236}">
                <a16:creationId xmlns:a16="http://schemas.microsoft.com/office/drawing/2014/main" id="{82A44987-E76A-4C4A-A4B4-E5FF436B8145}"/>
              </a:ext>
            </a:extLst>
          </p:cNvPr>
          <p:cNvSpPr>
            <a:spLocks xmlns:a="http://schemas.openxmlformats.org/drawingml/2006/main" noGrp="1"/>
          </p:cNvSpPr>
          <p:nvPr/>
        </p:nvSpPr>
        <p:spPr>
          <a:xfrm xmlns:a="http://schemas.openxmlformats.org/drawingml/2006/main">
            <a:off x="609600" y="1190625"/>
            <a:ext cx="10477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850" b="1">
                <a:solidFill>
                  <a:srgbClr val="FFFFFF"/>
                </a:solidFill>
                <a:latin typeface="DejaVu Sans"/>
                <a:ea typeface="DejaVu Sans"/>
                <a:cs typeface="DejaVu Sans"/>
              </a:defRPr>
            </a:pPr>
            <a:r>
              <a:rPr sz="5850" b="1">
                <a:solidFill>
                  <a:srgbClr val="FFFFFF"/>
                </a:solidFill>
                <a:latin typeface="DejaVu Sans"/>
                <a:ea typeface="DejaVu Sans"/>
                <a:cs typeface="DejaVu Sans"/>
              </a:rPr>
              <a:t>Rigoberto</a:t>
            </a:r>
          </a:p>
          <a:p xmlns:a="http://schemas.openxmlformats.org/drawingml/2006/main">
            <a:pPr>
              <a:buNone/>
              <a:defRPr sz="5850" b="1">
                <a:solidFill>
                  <a:srgbClr val="FFFFFF"/>
                </a:solidFill>
                <a:latin typeface="DejaVu Sans"/>
                <a:ea typeface="DejaVu Sans"/>
                <a:cs typeface="DejaVu Sans"/>
              </a:defRPr>
            </a:pPr>
            <a:r>
              <a:rPr sz="5850" b="1">
                <a:solidFill>
                  <a:srgbClr val="FFFFFF"/>
                </a:solidFill>
                <a:latin typeface="DejaVu Sans"/>
                <a:ea typeface="DejaVu Sans"/>
                <a:cs typeface="DejaVu Sans"/>
              </a:rPr>
              <a:t>Cortez</a:t>
            </a:r>
          </a:p>
        </p:txBody>
      </p:sp>
      <p:sp>
        <p:nvSpPr>
          <p:cNvPr id="2" name="ENGINEERING PORTFOLIO">
            <a:extLst xmlns:a="http://schemas.openxmlformats.org/drawingml/2006/main">
              <a:ext uri="{FF2B5EF4-FFF2-40B4-BE49-F238E27FC236}">
                <a16:creationId xmlns:a16="http://schemas.microsoft.com/office/drawing/2014/main" id="{B64A0D61-743E-406C-9EFB-EE33A4363515}"/>
              </a:ext>
            </a:extLst>
          </p:cNvPr>
          <p:cNvSpPr>
            <a:spLocks xmlns:a="http://schemas.openxmlformats.org/drawingml/2006/main" noGrp="1"/>
          </p:cNvSpPr>
          <p:nvPr/>
        </p:nvSpPr>
        <p:spPr>
          <a:xfrm xmlns:a="http://schemas.openxmlformats.org/drawingml/2006/main">
            <a:off x="657225" y="6191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BC8C3"/>
                </a:solidFill>
                <a:latin typeface="DejaVu Sans"/>
                <a:ea typeface="DejaVu Sans"/>
                <a:cs typeface="DejaVu Sans"/>
              </a:defRPr>
            </a:pPr>
            <a:r>
              <a:rPr sz="1725" b="0">
                <a:solidFill>
                  <a:srgbClr val="7BC8C3"/>
                </a:solidFill>
                <a:latin typeface="DejaVu Sans"/>
                <a:ea typeface="DejaVu Sans"/>
                <a:cs typeface="DejaVu Sans"/>
              </a:rPr>
              <a:t>ENGINEERING PORTFOLIO</a:t>
            </a:r>
          </a:p>
        </p:txBody>
      </p:sp>
      <p:sp>
        <p:nvSpPr>
          <p:cNvPr id="3" name="Electrical Engineering&#10;University of Californ">
            <a:extLst xmlns:a="http://schemas.openxmlformats.org/drawingml/2006/main">
              <a:ext uri="{FF2B5EF4-FFF2-40B4-BE49-F238E27FC236}">
                <a16:creationId xmlns:a16="http://schemas.microsoft.com/office/drawing/2014/main" id="{94BE0E74-4918-46DD-AE98-EB300352BB10}"/>
              </a:ext>
            </a:extLst>
          </p:cNvPr>
          <p:cNvSpPr>
            <a:spLocks xmlns:a="http://schemas.openxmlformats.org/drawingml/2006/main" noGrp="1"/>
          </p:cNvSpPr>
          <p:nvPr/>
        </p:nvSpPr>
        <p:spPr>
          <a:xfrm xmlns:a="http://schemas.openxmlformats.org/drawingml/2006/main">
            <a:off x="657225" y="36385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DEE7EA"/>
                </a:solidFill>
                <a:latin typeface="DejaVu Sans"/>
                <a:ea typeface="DejaVu Sans"/>
                <a:cs typeface="DejaVu Sans"/>
              </a:defRPr>
            </a:pPr>
            <a:r>
              <a:rPr sz="2250" b="0">
                <a:solidFill>
                  <a:srgbClr val="DEE7EA"/>
                </a:solidFill>
                <a:latin typeface="DejaVu Sans"/>
                <a:ea typeface="DejaVu Sans"/>
                <a:cs typeface="DejaVu Sans"/>
              </a:rPr>
              <a:t>Electrical Engineering</a:t>
            </a:r>
          </a:p>
          <a:p xmlns:a="http://schemas.openxmlformats.org/drawingml/2006/main">
            <a:pPr>
              <a:buNone/>
              <a:defRPr sz="2250" b="0">
                <a:solidFill>
                  <a:srgbClr val="DEE7EA"/>
                </a:solidFill>
                <a:latin typeface="DejaVu Sans"/>
                <a:ea typeface="DejaVu Sans"/>
                <a:cs typeface="DejaVu Sans"/>
              </a:defRPr>
            </a:pPr>
            <a:r>
              <a:rPr sz="2250" b="0">
                <a:solidFill>
                  <a:srgbClr val="DEE7EA"/>
                </a:solidFill>
                <a:latin typeface="DejaVu Sans"/>
                <a:ea typeface="DejaVu Sans"/>
                <a:cs typeface="DejaVu Sans"/>
              </a:rPr>
              <a:t>University of California San Diego</a:t>
            </a:r>
          </a:p>
        </p:txBody>
      </p:sp>
      <p:sp>
        <p:nvSpPr>
          <p:cNvPr id="4" name="Embedded systems, computer vision, and physic">
            <a:extLst xmlns:a="http://schemas.openxmlformats.org/drawingml/2006/main">
              <a:ext uri="{FF2B5EF4-FFF2-40B4-BE49-F238E27FC236}">
                <a16:creationId xmlns:a16="http://schemas.microsoft.com/office/drawing/2014/main" id="{AC9407AF-A0E9-4241-BDEE-AECE4AD5246A}"/>
              </a:ext>
            </a:extLst>
          </p:cNvPr>
          <p:cNvSpPr>
            <a:spLocks xmlns:a="http://schemas.openxmlformats.org/drawingml/2006/main" noGrp="1"/>
          </p:cNvSpPr>
          <p:nvPr/>
        </p:nvSpPr>
        <p:spPr>
          <a:xfrm xmlns:a="http://schemas.openxmlformats.org/drawingml/2006/main">
            <a:off x="657225" y="52863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C9D0"/>
                </a:solidFill>
                <a:latin typeface="DejaVu Sans"/>
                <a:ea typeface="DejaVu Sans"/>
                <a:cs typeface="DejaVu Sans"/>
              </a:defRPr>
            </a:pPr>
            <a:r>
              <a:rPr sz="2025" b="0">
                <a:solidFill>
                  <a:srgbClr val="B9C9D0"/>
                </a:solidFill>
                <a:latin typeface="DejaVu Sans"/>
                <a:ea typeface="DejaVu Sans"/>
                <a:cs typeface="DejaVu Sans"/>
              </a:rPr>
              <a:t>Embedded systems, computer vision, and physical prototypes</a:t>
            </a:r>
          </a:p>
        </p:txBody>
      </p:sp>
    </p:spTree>
    <p:extLst>
      <p:ext uri="{BB962C8B-B14F-4D97-AF65-F5344CB8AC3E}">
        <p14:creationId xmlns:p14="http://schemas.microsoft.com/office/powerpoint/2010/main" val="1081660763"/>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cxnSp>
        <p:nvCxnSpPr>
          <p:cNvPr id="24" name=""/>
          <p:cNvCxnSpPr>
            <a:stCxn xmlns:a="http://schemas.openxmlformats.org/drawingml/2006/main" id="13" idx="3"/>
            <a:endCxn xmlns:a="http://schemas.openxmlformats.org/drawingml/2006/main" id="16" idx="1"/>
          </p:cNvCxnSpPr>
          <p:nvPr/>
        </p:nvCxnSpPr>
        <p:spPr>
          <a:xfrm xmlns:a="http://schemas.openxmlformats.org/drawingml/2006/main">
            <a:off x="7105650" y="3962400"/>
            <a:ext cx="1352550" cy="0"/>
          </a:xfrm>
          <a:prstGeom xmlns:a="http://schemas.openxmlformats.org/drawingml/2006/main" prst="straightConnector1">
            <a:avLst/>
          </a:prstGeom>
          <a:ln xmlns:a="http://schemas.openxmlformats.org/drawingml/2006/main" w="19050">
            <a:solidFill>
              <a:srgbClr val="147F80"/>
            </a:solidFill>
            <a:tailEnd type="triangle" w="sm" len="sm"/>
          </a:ln>
        </p:spPr>
      </p:cxnSp>
      <p:cxnSp>
        <p:nvCxnSpPr>
          <p:cNvPr id="25" name=""/>
          <p:cNvCxnSpPr>
            <a:stCxn xmlns:a="http://schemas.openxmlformats.org/drawingml/2006/main" id="15" idx="0"/>
            <a:endCxn xmlns:a="http://schemas.openxmlformats.org/drawingml/2006/main" id="13" idx="2"/>
          </p:cNvCxnSpPr>
          <p:nvPr/>
        </p:nvCxnSpPr>
        <p:spPr>
          <a:xfrm xmlns:a="http://schemas.openxmlformats.org/drawingml/2006/main" flipV="1">
            <a:off x="5619750" y="4371975"/>
            <a:ext cx="0" cy="762000"/>
          </a:xfrm>
          <a:prstGeom xmlns:a="http://schemas.openxmlformats.org/drawingml/2006/main" prst="straightConnector1">
            <a:avLst/>
          </a:prstGeom>
          <a:ln xmlns:a="http://schemas.openxmlformats.org/drawingml/2006/main" w="19050">
            <a:solidFill>
              <a:srgbClr val="147F80"/>
            </a:solidFill>
            <a:tailEnd type="triangle" w="sm" len="sm"/>
          </a:ln>
        </p:spPr>
      </p:cxnSp>
      <p:cxnSp>
        <p:nvCxnSpPr>
          <p:cNvPr id="26" name=""/>
          <p:cNvCxnSpPr>
            <a:stCxn xmlns:a="http://schemas.openxmlformats.org/drawingml/2006/main" id="14" idx="3"/>
            <a:endCxn xmlns:a="http://schemas.openxmlformats.org/drawingml/2006/main" id="15" idx="1"/>
          </p:cNvCxnSpPr>
          <p:nvPr/>
        </p:nvCxnSpPr>
        <p:spPr>
          <a:xfrm xmlns:a="http://schemas.openxmlformats.org/drawingml/2006/main">
            <a:off x="3467100" y="5543550"/>
            <a:ext cx="666750" cy="0"/>
          </a:xfrm>
          <a:prstGeom xmlns:a="http://schemas.openxmlformats.org/drawingml/2006/main" prst="straightConnector1">
            <a:avLst/>
          </a:prstGeom>
          <a:ln xmlns:a="http://schemas.openxmlformats.org/drawingml/2006/main" w="19050">
            <a:solidFill>
              <a:srgbClr val="147F80"/>
            </a:solidFill>
            <a:tailEnd type="triangle" w="sm" len="sm"/>
          </a:ln>
        </p:spPr>
      </p:cxnSp>
      <p:cxnSp>
        <p:nvCxnSpPr>
          <p:cNvPr id="27" name=""/>
          <p:cNvCxnSpPr>
            <a:stCxn xmlns:a="http://schemas.openxmlformats.org/drawingml/2006/main" id="12" idx="3"/>
            <a:endCxn xmlns:a="http://schemas.openxmlformats.org/drawingml/2006/main" id="13" idx="1"/>
          </p:cNvCxnSpPr>
          <p:nvPr/>
        </p:nvCxnSpPr>
        <p:spPr>
          <a:xfrm xmlns:a="http://schemas.openxmlformats.org/drawingml/2006/main">
            <a:off x="3467100" y="3962400"/>
            <a:ext cx="666750" cy="0"/>
          </a:xfrm>
          <a:prstGeom xmlns:a="http://schemas.openxmlformats.org/drawingml/2006/main" prst="straightConnector1">
            <a:avLst/>
          </a:prstGeom>
          <a:ln xmlns:a="http://schemas.openxmlformats.org/drawingml/2006/main" w="19050">
            <a:solidFill>
              <a:srgbClr val="147F80"/>
            </a:solidFill>
            <a:tailEnd type="triangle" w="sm" len="sm"/>
          </a:ln>
        </p:spPr>
      </p:cxnSp>
      <p:cxnSp>
        <p:nvCxnSpPr>
          <p:cNvPr id="28" name=""/>
          <p:cNvCxnSpPr>
            <a:stCxn xmlns:a="http://schemas.openxmlformats.org/drawingml/2006/main" id="11" idx="2"/>
            <a:endCxn xmlns:a="http://schemas.openxmlformats.org/drawingml/2006/main" id="13" idx="0"/>
          </p:cNvCxnSpPr>
          <p:nvPr/>
        </p:nvCxnSpPr>
        <p:spPr>
          <a:xfrm xmlns:a="http://schemas.openxmlformats.org/drawingml/2006/main">
            <a:off x="5619750" y="2790825"/>
            <a:ext cx="0" cy="762000"/>
          </a:xfrm>
          <a:prstGeom xmlns:a="http://schemas.openxmlformats.org/drawingml/2006/main" prst="straightConnector1">
            <a:avLst/>
          </a:prstGeom>
          <a:ln xmlns:a="http://schemas.openxmlformats.org/drawingml/2006/main" w="19050">
            <a:solidFill>
              <a:srgbClr val="147F80"/>
            </a:solidFill>
            <a:tailEnd type="triangle" w="sm" len="sm"/>
          </a:ln>
        </p:spPr>
      </p:cxnSp>
      <p:cxnSp>
        <p:nvCxnSpPr>
          <p:cNvPr id="29" name=""/>
          <p:cNvCxnSpPr>
            <a:stCxn xmlns:a="http://schemas.openxmlformats.org/drawingml/2006/main" id="10" idx="3"/>
            <a:endCxn xmlns:a="http://schemas.openxmlformats.org/drawingml/2006/main" id="11" idx="1"/>
          </p:cNvCxnSpPr>
          <p:nvPr/>
        </p:nvCxnSpPr>
        <p:spPr>
          <a:xfrm xmlns:a="http://schemas.openxmlformats.org/drawingml/2006/main">
            <a:off x="3467100" y="2381250"/>
            <a:ext cx="666750" cy="0"/>
          </a:xfrm>
          <a:prstGeom xmlns:a="http://schemas.openxmlformats.org/drawingml/2006/main" prst="straightConnector1">
            <a:avLst/>
          </a:prstGeom>
          <a:ln xmlns:a="http://schemas.openxmlformats.org/drawingml/2006/main" w="19050">
            <a:solidFill>
              <a:srgbClr val="147F80"/>
            </a:solidFill>
            <a:tailEnd type="triangle" w="sm" len="sm"/>
          </a:ln>
        </p:spPr>
      </p:cxnSp>
      <p:sp>
        <p:nvSpPr>
          <p:cNvPr id="9" name="Chess move tracking camera">
            <a:extLst xmlns:a="http://schemas.openxmlformats.org/drawingml/2006/main">
              <a:ext uri="{FF2B5EF4-FFF2-40B4-BE49-F238E27FC236}">
                <a16:creationId xmlns:a16="http://schemas.microsoft.com/office/drawing/2014/main" id="{3FAD9982-B31D-4EBE-94AD-5B0B6C7ABFD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Chess move tracking camera</a:t>
            </a:r>
          </a:p>
        </p:txBody>
      </p:sp>
      <p:sp>
        <p:nvSpPr>
          <p:cNvPr id="2" name="SPIS 2026 · Working team project">
            <a:extLst xmlns:a="http://schemas.openxmlformats.org/drawingml/2006/main">
              <a:ext uri="{FF2B5EF4-FFF2-40B4-BE49-F238E27FC236}">
                <a16:creationId xmlns:a16="http://schemas.microsoft.com/office/drawing/2014/main" id="{01209222-E700-463A-A911-DEF49263D144}"/>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SPIS 2026 · Working team project</a:t>
            </a:r>
          </a:p>
        </p:txBody>
      </p:sp>
      <p:sp>
        <p:nvSpPr>
          <p:cNvPr id="10" name="">
            <a:extLst xmlns:a="http://schemas.openxmlformats.org/drawingml/2006/main">
              <a:ext uri="{FF2B5EF4-FFF2-40B4-BE49-F238E27FC236}">
                <a16:creationId xmlns:a16="http://schemas.microsoft.com/office/drawing/2014/main" id="{008CCBDA-9743-499B-8160-ED34340656D4}"/>
              </a:ext>
            </a:extLst>
          </p:cNvPr>
          <p:cNvSpPr>
            <a:spLocks xmlns:a="http://schemas.openxmlformats.org/drawingml/2006/main" noGrp="1"/>
          </p:cNvSpPr>
          <p:nvPr/>
        </p:nvSpPr>
        <p:spPr>
          <a:xfrm xmlns:a="http://schemas.openxmlformats.org/drawingml/2006/main">
            <a:off x="609600" y="1971675"/>
            <a:ext cx="28575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Camera image</a:t>
            </a:r>
          </a:p>
        </p:txBody>
      </p:sp>
      <p:sp>
        <p:nvSpPr>
          <p:cNvPr id="11" name="">
            <a:extLst xmlns:a="http://schemas.openxmlformats.org/drawingml/2006/main">
              <a:ext uri="{FF2B5EF4-FFF2-40B4-BE49-F238E27FC236}">
                <a16:creationId xmlns:a16="http://schemas.microsoft.com/office/drawing/2014/main" id="{38D20E7E-2FB0-4BD4-8269-84282EAE07E3}"/>
              </a:ext>
            </a:extLst>
          </p:cNvPr>
          <p:cNvSpPr>
            <a:spLocks xmlns:a="http://schemas.openxmlformats.org/drawingml/2006/main" noGrp="1"/>
          </p:cNvSpPr>
          <p:nvPr/>
        </p:nvSpPr>
        <p:spPr>
          <a:xfrm xmlns:a="http://schemas.openxmlformats.org/drawingml/2006/main">
            <a:off x="4133850" y="1971675"/>
            <a:ext cx="29718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Visual changes</a:t>
            </a:r>
          </a:p>
        </p:txBody>
      </p:sp>
      <p:sp>
        <p:nvSpPr>
          <p:cNvPr id="12" name="">
            <a:extLst xmlns:a="http://schemas.openxmlformats.org/drawingml/2006/main">
              <a:ext uri="{FF2B5EF4-FFF2-40B4-BE49-F238E27FC236}">
                <a16:creationId xmlns:a16="http://schemas.microsoft.com/office/drawing/2014/main" id="{47F5A9A2-3900-46AC-9DC6-964B7A38E812}"/>
              </a:ext>
            </a:extLst>
          </p:cNvPr>
          <p:cNvSpPr>
            <a:spLocks xmlns:a="http://schemas.openxmlformats.org/drawingml/2006/main" noGrp="1"/>
          </p:cNvSpPr>
          <p:nvPr/>
        </p:nvSpPr>
        <p:spPr>
          <a:xfrm xmlns:a="http://schemas.openxmlformats.org/drawingml/2006/main">
            <a:off x="609600" y="3552825"/>
            <a:ext cx="28575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Square geometry</a:t>
            </a:r>
          </a:p>
        </p:txBody>
      </p:sp>
      <p:sp>
        <p:nvSpPr>
          <p:cNvPr id="13" name="">
            <a:extLst xmlns:a="http://schemas.openxmlformats.org/drawingml/2006/main">
              <a:ext uri="{FF2B5EF4-FFF2-40B4-BE49-F238E27FC236}">
                <a16:creationId xmlns:a16="http://schemas.microsoft.com/office/drawing/2014/main" id="{AEC78A78-64CE-4358-9142-B5E37DB410A4}"/>
              </a:ext>
            </a:extLst>
          </p:cNvPr>
          <p:cNvSpPr>
            <a:spLocks xmlns:a="http://schemas.openxmlformats.org/drawingml/2006/main" noGrp="1"/>
          </p:cNvSpPr>
          <p:nvPr/>
        </p:nvSpPr>
        <p:spPr>
          <a:xfrm xmlns:a="http://schemas.openxmlformats.org/drawingml/2006/main">
            <a:off x="4133850" y="3552825"/>
            <a:ext cx="29718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Candidate move</a:t>
            </a:r>
          </a:p>
        </p:txBody>
      </p:sp>
      <p:sp>
        <p:nvSpPr>
          <p:cNvPr id="14" name="">
            <a:extLst xmlns:a="http://schemas.openxmlformats.org/drawingml/2006/main">
              <a:ext uri="{FF2B5EF4-FFF2-40B4-BE49-F238E27FC236}">
                <a16:creationId xmlns:a16="http://schemas.microsoft.com/office/drawing/2014/main" id="{520CF9E6-0131-4F87-8AED-E6A22586DA14}"/>
              </a:ext>
            </a:extLst>
          </p:cNvPr>
          <p:cNvSpPr>
            <a:spLocks xmlns:a="http://schemas.openxmlformats.org/drawingml/2006/main" noGrp="1"/>
          </p:cNvSpPr>
          <p:nvPr/>
        </p:nvSpPr>
        <p:spPr>
          <a:xfrm xmlns:a="http://schemas.openxmlformats.org/drawingml/2006/main">
            <a:off x="609600" y="5133975"/>
            <a:ext cx="28575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Prior board state</a:t>
            </a:r>
          </a:p>
        </p:txBody>
      </p:sp>
      <p:sp>
        <p:nvSpPr>
          <p:cNvPr id="15" name="">
            <a:extLst xmlns:a="http://schemas.openxmlformats.org/drawingml/2006/main">
              <a:ext uri="{FF2B5EF4-FFF2-40B4-BE49-F238E27FC236}">
                <a16:creationId xmlns:a16="http://schemas.microsoft.com/office/drawing/2014/main" id="{593EE94A-C60D-460C-9349-A667E2FF35BB}"/>
              </a:ext>
            </a:extLst>
          </p:cNvPr>
          <p:cNvSpPr>
            <a:spLocks xmlns:a="http://schemas.openxmlformats.org/drawingml/2006/main" noGrp="1"/>
          </p:cNvSpPr>
          <p:nvPr/>
        </p:nvSpPr>
        <p:spPr>
          <a:xfrm xmlns:a="http://schemas.openxmlformats.org/drawingml/2006/main">
            <a:off x="4133850" y="5133975"/>
            <a:ext cx="29718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Chess constraints</a:t>
            </a:r>
          </a:p>
        </p:txBody>
      </p:sp>
      <p:sp>
        <p:nvSpPr>
          <p:cNvPr id="16" name="">
            <a:extLst xmlns:a="http://schemas.openxmlformats.org/drawingml/2006/main">
              <a:ext uri="{FF2B5EF4-FFF2-40B4-BE49-F238E27FC236}">
                <a16:creationId xmlns:a16="http://schemas.microsoft.com/office/drawing/2014/main" id="{97ED43CF-3689-498F-9F89-08D52E34EE23}"/>
              </a:ext>
            </a:extLst>
          </p:cNvPr>
          <p:cNvSpPr>
            <a:spLocks xmlns:a="http://schemas.openxmlformats.org/drawingml/2006/main" noGrp="1"/>
          </p:cNvSpPr>
          <p:nvPr/>
        </p:nvSpPr>
        <p:spPr>
          <a:xfrm xmlns:a="http://schemas.openxmlformats.org/drawingml/2006/main">
            <a:off x="8458200" y="3552825"/>
            <a:ext cx="3124200" cy="819150"/>
          </a:xfrm>
          <a:prstGeom xmlns:a="http://schemas.openxmlformats.org/drawingml/2006/main" prst="rect">
            <a:avLst/>
          </a:prstGeom>
          <a:solidFill xmlns:a="http://schemas.openxmlformats.org/drawingml/2006/main">
            <a:srgbClr val="E5F0EF"/>
          </a:solidFill>
          <a:ln xmlns:a="http://schemas.openxmlformats.org/drawingml/2006/main" w="12383">
            <a:solidFill>
              <a:srgbClr val="147F8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1">
                <a:solidFill>
                  <a:srgbClr val="102637"/>
                </a:solidFill>
                <a:latin typeface="DejaVu Sans"/>
                <a:ea typeface="DejaVu Sans"/>
                <a:cs typeface="DejaVu Sans"/>
              </a:defRPr>
            </a:pPr>
            <a:r>
              <a:rPr sz="1875" b="1">
                <a:solidFill>
                  <a:srgbClr val="102637"/>
                </a:solidFill>
                <a:latin typeface="DejaVu Sans"/>
                <a:ea typeface="DejaVu Sans"/>
                <a:cs typeface="DejaVu Sans"/>
              </a:rPr>
              <a:t>Recorded move</a:t>
            </a:r>
          </a:p>
        </p:txBody>
      </p:sp>
      <p:sp>
        <p:nvSpPr>
          <p:cNvPr id="23" name="">
            <a:extLst xmlns:a="http://schemas.openxmlformats.org/drawingml/2006/main">
              <a:ext uri="{FF2B5EF4-FFF2-40B4-BE49-F238E27FC236}">
                <a16:creationId xmlns:a16="http://schemas.microsoft.com/office/drawing/2014/main" id="{DDD2D8EB-E794-4E2F-BB3A-737F16536896}"/>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Conceptual overview based on the project description</a:t>
            </a:r>
          </a:p>
        </p:txBody>
      </p:sp>
    </p:spTree>
    <p:extLst>
      <p:ext uri="{BB962C8B-B14F-4D97-AF65-F5344CB8AC3E}">
        <p14:creationId xmlns:p14="http://schemas.microsoft.com/office/powerpoint/2010/main" val="1050409169"/>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Tracked line-following robot">
            <a:extLst xmlns:a="http://schemas.openxmlformats.org/drawingml/2006/main">
              <a:ext uri="{FF2B5EF4-FFF2-40B4-BE49-F238E27FC236}">
                <a16:creationId xmlns:a16="http://schemas.microsoft.com/office/drawing/2014/main" id="{3DBCD201-6D57-434C-A2CB-C1A9F34D730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Tracked line-following robot</a:t>
            </a:r>
          </a:p>
        </p:txBody>
      </p:sp>
      <p:sp>
        <p:nvSpPr>
          <p:cNvPr id="2" name="PLTW 2024 · Team hardware prototype">
            <a:extLst xmlns:a="http://schemas.openxmlformats.org/drawingml/2006/main">
              <a:ext uri="{FF2B5EF4-FFF2-40B4-BE49-F238E27FC236}">
                <a16:creationId xmlns:a16="http://schemas.microsoft.com/office/drawing/2014/main" id="{DE9DE919-499D-4EA1-84FB-0C7B6B425F93}"/>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PLTW 2024 · Team hardware prototype</a:t>
            </a:r>
          </a:p>
        </p:txBody>
      </p:sp>
      <p:sp>
        <p:nvSpPr>
          <p:cNvPr id="3" name="Hardware">
            <a:extLst xmlns:a="http://schemas.openxmlformats.org/drawingml/2006/main">
              <a:ext uri="{FF2B5EF4-FFF2-40B4-BE49-F238E27FC236}">
                <a16:creationId xmlns:a16="http://schemas.microsoft.com/office/drawing/2014/main" id="{837EE370-1D43-48DD-BCA2-0C8D4FD67656}"/>
              </a:ext>
            </a:extLst>
          </p:cNvPr>
          <p:cNvSpPr>
            <a:spLocks xmlns:a="http://schemas.openxmlformats.org/drawingml/2006/main" noGrp="1"/>
          </p:cNvSpPr>
          <p:nvPr/>
        </p:nvSpPr>
        <p:spPr>
          <a:xfrm xmlns:a="http://schemas.openxmlformats.org/drawingml/2006/main">
            <a:off x="609600" y="1847850"/>
            <a:ext cx="433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Hardware</a:t>
            </a:r>
          </a:p>
        </p:txBody>
      </p:sp>
      <p:sp>
        <p:nvSpPr>
          <p:cNvPr id="4" name="VEX Cortex, two motors, tracks, three line tr">
            <a:extLst xmlns:a="http://schemas.openxmlformats.org/drawingml/2006/main">
              <a:ext uri="{FF2B5EF4-FFF2-40B4-BE49-F238E27FC236}">
                <a16:creationId xmlns:a16="http://schemas.microsoft.com/office/drawing/2014/main" id="{2A2297B4-42D7-48DB-86C8-E6F30F44C530}"/>
              </a:ext>
            </a:extLst>
          </p:cNvPr>
          <p:cNvSpPr>
            <a:spLocks xmlns:a="http://schemas.openxmlformats.org/drawingml/2006/main" noGrp="1"/>
          </p:cNvSpPr>
          <p:nvPr/>
        </p:nvSpPr>
        <p:spPr>
          <a:xfrm xmlns:a="http://schemas.openxmlformats.org/drawingml/2006/main">
            <a:off x="609600" y="2257425"/>
            <a:ext cx="4333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VEX Cortex, two motors, tracks, three line trackers, and ultrasonic sensing.</a:t>
            </a:r>
          </a:p>
        </p:txBody>
      </p:sp>
      <p:sp>
        <p:nvSpPr>
          <p:cNvPr id="5" name="Integration">
            <a:extLst xmlns:a="http://schemas.openxmlformats.org/drawingml/2006/main">
              <a:ext uri="{FF2B5EF4-FFF2-40B4-BE49-F238E27FC236}">
                <a16:creationId xmlns:a16="http://schemas.microsoft.com/office/drawing/2014/main" id="{C326964B-266C-4738-912B-06416B53DF12}"/>
              </a:ext>
            </a:extLst>
          </p:cNvPr>
          <p:cNvSpPr>
            <a:spLocks xmlns:a="http://schemas.openxmlformats.org/drawingml/2006/main" noGrp="1"/>
          </p:cNvSpPr>
          <p:nvPr/>
        </p:nvSpPr>
        <p:spPr>
          <a:xfrm xmlns:a="http://schemas.openxmlformats.org/drawingml/2006/main">
            <a:off x="609600" y="3371850"/>
            <a:ext cx="433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Integration</a:t>
            </a:r>
          </a:p>
        </p:txBody>
      </p:sp>
      <p:sp>
        <p:nvSpPr>
          <p:cNvPr id="6" name="Built the chassis and integrated sensors, swi">
            <a:extLst xmlns:a="http://schemas.openxmlformats.org/drawingml/2006/main">
              <a:ext uri="{FF2B5EF4-FFF2-40B4-BE49-F238E27FC236}">
                <a16:creationId xmlns:a16="http://schemas.microsoft.com/office/drawing/2014/main" id="{EA43C4CC-941C-4E61-AF22-0B354E59330E}"/>
              </a:ext>
            </a:extLst>
          </p:cNvPr>
          <p:cNvSpPr>
            <a:spLocks xmlns:a="http://schemas.openxmlformats.org/drawingml/2006/main" noGrp="1"/>
          </p:cNvSpPr>
          <p:nvPr/>
        </p:nvSpPr>
        <p:spPr>
          <a:xfrm xmlns:a="http://schemas.openxmlformats.org/drawingml/2006/main">
            <a:off x="609600" y="3781425"/>
            <a:ext cx="4333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Built the chassis and integrated sensors, switching, and wiring. RobotC control work remained incomplete.</a:t>
            </a:r>
          </a:p>
        </p:txBody>
      </p:sp>
      <p:sp>
        <p:nvSpPr>
          <p:cNvPr id="7" name="Lesson">
            <a:extLst xmlns:a="http://schemas.openxmlformats.org/drawingml/2006/main">
              <a:ext uri="{FF2B5EF4-FFF2-40B4-BE49-F238E27FC236}">
                <a16:creationId xmlns:a16="http://schemas.microsoft.com/office/drawing/2014/main" id="{ED52F25B-9C00-4B94-BD90-FC143917871D}"/>
              </a:ext>
            </a:extLst>
          </p:cNvPr>
          <p:cNvSpPr>
            <a:spLocks xmlns:a="http://schemas.openxmlformats.org/drawingml/2006/main" noGrp="1"/>
          </p:cNvSpPr>
          <p:nvPr/>
        </p:nvSpPr>
        <p:spPr>
          <a:xfrm xmlns:a="http://schemas.openxmlformats.org/drawingml/2006/main">
            <a:off x="609600" y="4895850"/>
            <a:ext cx="433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Lesson</a:t>
            </a:r>
          </a:p>
        </p:txBody>
      </p:sp>
      <p:sp>
        <p:nvSpPr>
          <p:cNvPr id="8" name="Start software trials before the mechanical b">
            <a:extLst xmlns:a="http://schemas.openxmlformats.org/drawingml/2006/main">
              <a:ext uri="{FF2B5EF4-FFF2-40B4-BE49-F238E27FC236}">
                <a16:creationId xmlns:a16="http://schemas.microsoft.com/office/drawing/2014/main" id="{F94C460D-CA61-404A-8911-3552235A00C6}"/>
              </a:ext>
            </a:extLst>
          </p:cNvPr>
          <p:cNvSpPr>
            <a:spLocks xmlns:a="http://schemas.openxmlformats.org/drawingml/2006/main" noGrp="1"/>
          </p:cNvSpPr>
          <p:nvPr/>
        </p:nvSpPr>
        <p:spPr>
          <a:xfrm xmlns:a="http://schemas.openxmlformats.org/drawingml/2006/main">
            <a:off x="609600" y="5305425"/>
            <a:ext cx="4333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Start software trials before the mechanical build is finished.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abc4550f05c48e8"/>
          <a:stretch xmlns:a="http://schemas.openxmlformats.org/drawingml/2006/main"/>
        </p:blipFill>
        <p:spPr>
          <a:xfrm xmlns:a="http://schemas.openxmlformats.org/drawingml/2006/main">
            <a:off x="5657850" y="1885950"/>
            <a:ext cx="5638800" cy="4229100"/>
          </a:xfrm>
          <a:prstGeom xmlns:a="http://schemas.openxmlformats.org/drawingml/2006/main" prst="rect">
            <a:avLst/>
          </a:prstGeom>
        </p:spPr>
      </p:pic>
    </p:spTree>
    <p:extLst>
      <p:ext uri="{BB962C8B-B14F-4D97-AF65-F5344CB8AC3E}">
        <p14:creationId xmlns:p14="http://schemas.microsoft.com/office/powerpoint/2010/main" val="956298379"/>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DEAADC-2490-4803-B93C-E0404B1E730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Robot build progression</a:t>
            </a:r>
          </a:p>
        </p:txBody>
      </p:sp>
      <p:sp>
        <p:nvSpPr>
          <p:cNvPr id="2" name="">
            <a:extLst xmlns:a="http://schemas.openxmlformats.org/drawingml/2006/main">
              <a:ext uri="{FF2B5EF4-FFF2-40B4-BE49-F238E27FC236}">
                <a16:creationId xmlns:a16="http://schemas.microsoft.com/office/drawing/2014/main" id="{46AFD20C-CA18-4512-B77F-D8EE8BCD80BE}"/>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Original build photographs and notebook sketch</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0ef64f7e4674e7e"/>
          <a:stretch xmlns:a="http://schemas.openxmlformats.org/drawingml/2006/main"/>
        </p:blipFill>
        <p:spPr>
          <a:xfrm xmlns:a="http://schemas.openxmlformats.org/drawingml/2006/main">
            <a:off x="1898650" y="1752600"/>
            <a:ext cx="2641600" cy="1981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60ACDB-3206-434F-821A-EAC885C4F330}"/>
              </a:ext>
            </a:extLst>
          </p:cNvPr>
          <p:cNvSpPr>
            <a:spLocks xmlns:a="http://schemas.openxmlformats.org/drawingml/2006/main" noGrp="1"/>
          </p:cNvSpPr>
          <p:nvPr/>
        </p:nvSpPr>
        <p:spPr>
          <a:xfrm xmlns:a="http://schemas.openxmlformats.org/drawingml/2006/main">
            <a:off x="609600" y="3771900"/>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Chassis and drivetrain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56920b8cb1e47aa"/>
          <a:stretch xmlns:a="http://schemas.openxmlformats.org/drawingml/2006/main"/>
        </p:blipFill>
        <p:spPr>
          <a:xfrm xmlns:a="http://schemas.openxmlformats.org/drawingml/2006/main">
            <a:off x="7651750" y="1752600"/>
            <a:ext cx="2641600" cy="1981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587B9A-8E96-4E01-AD23-1ACBF8037662}"/>
              </a:ext>
            </a:extLst>
          </p:cNvPr>
          <p:cNvSpPr>
            <a:spLocks xmlns:a="http://schemas.openxmlformats.org/drawingml/2006/main" noGrp="1"/>
          </p:cNvSpPr>
          <p:nvPr/>
        </p:nvSpPr>
        <p:spPr>
          <a:xfrm xmlns:a="http://schemas.openxmlformats.org/drawingml/2006/main">
            <a:off x="6362700" y="3771900"/>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Assembly stage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b96d3c8fd764f1a"/>
          <a:stretch xmlns:a="http://schemas.openxmlformats.org/drawingml/2006/main"/>
        </p:blipFill>
        <p:spPr>
          <a:xfrm xmlns:a="http://schemas.openxmlformats.org/drawingml/2006/main">
            <a:off x="1898650" y="4105275"/>
            <a:ext cx="2641600" cy="1981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3A2810D-12A6-4308-8730-8223DD7DF640}"/>
              </a:ext>
            </a:extLst>
          </p:cNvPr>
          <p:cNvSpPr>
            <a:spLocks xmlns:a="http://schemas.openxmlformats.org/drawingml/2006/main" noGrp="1"/>
          </p:cNvSpPr>
          <p:nvPr/>
        </p:nvSpPr>
        <p:spPr>
          <a:xfrm xmlns:a="http://schemas.openxmlformats.org/drawingml/2006/main">
            <a:off x="609600" y="6124575"/>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Sensor-facing view</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28fcf2717cb4018"/>
          <a:stretch xmlns:a="http://schemas.openxmlformats.org/drawingml/2006/main"/>
        </p:blipFill>
        <p:spPr>
          <a:xfrm xmlns:a="http://schemas.openxmlformats.org/drawingml/2006/main">
            <a:off x="7223146" y="4105275"/>
            <a:ext cx="3498808" cy="1981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80FA109-5E3F-44E5-AF92-D45F87D7C114}"/>
              </a:ext>
            </a:extLst>
          </p:cNvPr>
          <p:cNvSpPr>
            <a:spLocks xmlns:a="http://schemas.openxmlformats.org/drawingml/2006/main" noGrp="1"/>
          </p:cNvSpPr>
          <p:nvPr/>
        </p:nvSpPr>
        <p:spPr>
          <a:xfrm xmlns:a="http://schemas.openxmlformats.org/drawingml/2006/main">
            <a:off x="6362700" y="6124575"/>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Early concept sketch</a:t>
            </a:r>
          </a:p>
        </p:txBody>
      </p:sp>
    </p:spTree>
    <p:extLst>
      <p:ext uri="{BB962C8B-B14F-4D97-AF65-F5344CB8AC3E}">
        <p14:creationId xmlns:p14="http://schemas.microsoft.com/office/powerpoint/2010/main" val="1087103565"/>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Environment-adaptive speaker">
            <a:extLst xmlns:a="http://schemas.openxmlformats.org/drawingml/2006/main">
              <a:ext uri="{FF2B5EF4-FFF2-40B4-BE49-F238E27FC236}">
                <a16:creationId xmlns:a16="http://schemas.microsoft.com/office/drawing/2014/main" id="{A00A6290-9F0B-4177-8A31-FC71E253AA2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Environment-adaptive speaker</a:t>
            </a:r>
          </a:p>
        </p:txBody>
      </p:sp>
      <p:sp>
        <p:nvSpPr>
          <p:cNvPr id="2" name="ECE Makerspace 2026 · Individual design propo">
            <a:extLst xmlns:a="http://schemas.openxmlformats.org/drawingml/2006/main">
              <a:ext uri="{FF2B5EF4-FFF2-40B4-BE49-F238E27FC236}">
                <a16:creationId xmlns:a16="http://schemas.microsoft.com/office/drawing/2014/main" id="{04863FA4-8CB3-4226-BAD5-E19DE632560C}"/>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ECE Makerspace 2026 · Individual design proposal</a:t>
            </a:r>
          </a:p>
        </p:txBody>
      </p:sp>
      <p:sp>
        <p:nvSpPr>
          <p:cNvPr id="3" name="Enclosure concept">
            <a:extLst xmlns:a="http://schemas.openxmlformats.org/drawingml/2006/main">
              <a:ext uri="{FF2B5EF4-FFF2-40B4-BE49-F238E27FC236}">
                <a16:creationId xmlns:a16="http://schemas.microsoft.com/office/drawing/2014/main" id="{148D6128-3457-44E7-9921-27255ABBBD6D}"/>
              </a:ext>
            </a:extLst>
          </p:cNvPr>
          <p:cNvSpPr>
            <a:spLocks xmlns:a="http://schemas.openxmlformats.org/drawingml/2006/main" noGrp="1"/>
          </p:cNvSpPr>
          <p:nvPr/>
        </p:nvSpPr>
        <p:spPr>
          <a:xfrm xmlns:a="http://schemas.openxmlformats.org/drawingml/2006/main">
            <a:off x="609600" y="1847850"/>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Enclosure concept</a:t>
            </a:r>
          </a:p>
        </p:txBody>
      </p:sp>
      <p:sp>
        <p:nvSpPr>
          <p:cNvPr id="4" name="A 6 × 6 in base and 4.5 in height. Four posts">
            <a:extLst xmlns:a="http://schemas.openxmlformats.org/drawingml/2006/main">
              <a:ext uri="{FF2B5EF4-FFF2-40B4-BE49-F238E27FC236}">
                <a16:creationId xmlns:a16="http://schemas.microsoft.com/office/drawing/2014/main" id="{58B34949-5C6C-4847-999E-6D684C2A436D}"/>
              </a:ext>
            </a:extLst>
          </p:cNvPr>
          <p:cNvSpPr>
            <a:spLocks xmlns:a="http://schemas.openxmlformats.org/drawingml/2006/main" noGrp="1"/>
          </p:cNvSpPr>
          <p:nvPr/>
        </p:nvSpPr>
        <p:spPr>
          <a:xfrm xmlns:a="http://schemas.openxmlformats.org/drawingml/2006/main">
            <a:off x="609600" y="2257425"/>
            <a:ext cx="4362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A 6 × 6 in base and 4.5 in height. Four posts support the truncated pyramid frame.</a:t>
            </a:r>
          </a:p>
        </p:txBody>
      </p:sp>
      <p:sp>
        <p:nvSpPr>
          <p:cNvPr id="5" name="Adaptive behavior">
            <a:extLst xmlns:a="http://schemas.openxmlformats.org/drawingml/2006/main">
              <a:ext uri="{FF2B5EF4-FFF2-40B4-BE49-F238E27FC236}">
                <a16:creationId xmlns:a16="http://schemas.microsoft.com/office/drawing/2014/main" id="{14814913-25E1-4764-8DDB-EAD4B7982F2E}"/>
              </a:ext>
            </a:extLst>
          </p:cNvPr>
          <p:cNvSpPr>
            <a:spLocks xmlns:a="http://schemas.openxmlformats.org/drawingml/2006/main" noGrp="1"/>
          </p:cNvSpPr>
          <p:nvPr/>
        </p:nvSpPr>
        <p:spPr>
          <a:xfrm xmlns:a="http://schemas.openxmlformats.org/drawingml/2006/main">
            <a:off x="609600" y="3371850"/>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Adaptive behavior</a:t>
            </a:r>
          </a:p>
        </p:txBody>
      </p:sp>
      <p:sp>
        <p:nvSpPr>
          <p:cNvPr id="6" name="Each face would sense nearby obstructions and">
            <a:extLst xmlns:a="http://schemas.openxmlformats.org/drawingml/2006/main">
              <a:ext uri="{FF2B5EF4-FFF2-40B4-BE49-F238E27FC236}">
                <a16:creationId xmlns:a16="http://schemas.microsoft.com/office/drawing/2014/main" id="{F8CBBB7D-843B-403F-9ED7-B69D1D83A4A0}"/>
              </a:ext>
            </a:extLst>
          </p:cNvPr>
          <p:cNvSpPr>
            <a:spLocks xmlns:a="http://schemas.openxmlformats.org/drawingml/2006/main" noGrp="1"/>
          </p:cNvSpPr>
          <p:nvPr/>
        </p:nvSpPr>
        <p:spPr>
          <a:xfrm xmlns:a="http://schemas.openxmlformats.org/drawingml/2006/main">
            <a:off x="609600" y="3781425"/>
            <a:ext cx="4362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Each face would sense nearby obstructions and reduce its corresponding driver output.</a:t>
            </a:r>
          </a:p>
        </p:txBody>
      </p:sp>
      <p:sp>
        <p:nvSpPr>
          <p:cNvPr id="7" name="Completed work">
            <a:extLst xmlns:a="http://schemas.openxmlformats.org/drawingml/2006/main">
              <a:ext uri="{FF2B5EF4-FFF2-40B4-BE49-F238E27FC236}">
                <a16:creationId xmlns:a16="http://schemas.microsoft.com/office/drawing/2014/main" id="{9D32AC63-C375-4544-A96B-A5B16009842F}"/>
              </a:ext>
            </a:extLst>
          </p:cNvPr>
          <p:cNvSpPr>
            <a:spLocks xmlns:a="http://schemas.openxmlformats.org/drawingml/2006/main" noGrp="1"/>
          </p:cNvSpPr>
          <p:nvPr/>
        </p:nvSpPr>
        <p:spPr>
          <a:xfrm xmlns:a="http://schemas.openxmlformats.org/drawingml/2006/main">
            <a:off x="609600" y="4895850"/>
            <a:ext cx="436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Completed work</a:t>
            </a:r>
          </a:p>
        </p:txBody>
      </p:sp>
      <p:sp>
        <p:nvSpPr>
          <p:cNvPr id="8" name="Frame CAD, bottom fastener locations, and a c">
            <a:extLst xmlns:a="http://schemas.openxmlformats.org/drawingml/2006/main">
              <a:ext uri="{FF2B5EF4-FFF2-40B4-BE49-F238E27FC236}">
                <a16:creationId xmlns:a16="http://schemas.microsoft.com/office/drawing/2014/main" id="{21B5DBAB-2EA4-47CC-95FD-7C6017F6B39F}"/>
              </a:ext>
            </a:extLst>
          </p:cNvPr>
          <p:cNvSpPr>
            <a:spLocks xmlns:a="http://schemas.openxmlformats.org/drawingml/2006/main" noGrp="1"/>
          </p:cNvSpPr>
          <p:nvPr/>
        </p:nvSpPr>
        <p:spPr>
          <a:xfrm xmlns:a="http://schemas.openxmlformats.org/drawingml/2006/main">
            <a:off x="609600" y="5305425"/>
            <a:ext cx="4362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Frame CAD, bottom fastener locations, and a construction plan.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b219b2b03814692"/>
          <a:stretch xmlns:a="http://schemas.openxmlformats.org/drawingml/2006/main"/>
        </p:blipFill>
        <p:spPr>
          <a:xfrm xmlns:a="http://schemas.openxmlformats.org/drawingml/2006/main">
            <a:off x="5334000" y="2010619"/>
            <a:ext cx="6248400" cy="4084538"/>
          </a:xfrm>
          <a:prstGeom xmlns:a="http://schemas.openxmlformats.org/drawingml/2006/main" prst="rect">
            <a:avLst/>
          </a:prstGeom>
        </p:spPr>
      </p:pic>
    </p:spTree>
    <p:extLst>
      <p:ext uri="{BB962C8B-B14F-4D97-AF65-F5344CB8AC3E}">
        <p14:creationId xmlns:p14="http://schemas.microsoft.com/office/powerpoint/2010/main" val="1634410701"/>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Speaker architecture and testing">
            <a:extLst xmlns:a="http://schemas.openxmlformats.org/drawingml/2006/main">
              <a:ext uri="{FF2B5EF4-FFF2-40B4-BE49-F238E27FC236}">
                <a16:creationId xmlns:a16="http://schemas.microsoft.com/office/drawing/2014/main" id="{3C3CBF52-5BA9-405C-9929-A46299F108B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Speaker architecture and testing</a:t>
            </a:r>
          </a:p>
        </p:txBody>
      </p:sp>
      <p:sp>
        <p:nvSpPr>
          <p:cNvPr id="2" name="Four independent outputs remain a design requ">
            <a:extLst xmlns:a="http://schemas.openxmlformats.org/drawingml/2006/main">
              <a:ext uri="{FF2B5EF4-FFF2-40B4-BE49-F238E27FC236}">
                <a16:creationId xmlns:a16="http://schemas.microsoft.com/office/drawing/2014/main" id="{94D2B40D-FC73-4FE7-8209-C0CAC18442E6}"/>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Four independent outputs remain a design requirement</a:t>
            </a:r>
          </a:p>
        </p:txBody>
      </p:sp>
      <p:sp>
        <p:nvSpPr>
          <p:cNvPr id="3" name="Audio control">
            <a:extLst xmlns:a="http://schemas.openxmlformats.org/drawingml/2006/main">
              <a:ext uri="{FF2B5EF4-FFF2-40B4-BE49-F238E27FC236}">
                <a16:creationId xmlns:a16="http://schemas.microsoft.com/office/drawing/2014/main" id="{94AA54AB-12DA-4DB8-ACC8-C90AC37AA213}"/>
              </a:ext>
            </a:extLst>
          </p:cNvPr>
          <p:cNvSpPr>
            <a:spLocks xmlns:a="http://schemas.openxmlformats.org/drawingml/2006/main" noGrp="1"/>
          </p:cNvSpPr>
          <p:nvPr/>
        </p:nvSpPr>
        <p:spPr>
          <a:xfrm xmlns:a="http://schemas.openxmlformats.org/drawingml/2006/main">
            <a:off x="609600" y="1847850"/>
            <a:ext cx="4457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Audio control</a:t>
            </a:r>
          </a:p>
        </p:txBody>
      </p:sp>
      <p:sp>
        <p:nvSpPr>
          <p:cNvPr id="4" name="The listed stereo amplifier needs revision or">
            <a:extLst xmlns:a="http://schemas.openxmlformats.org/drawingml/2006/main">
              <a:ext uri="{FF2B5EF4-FFF2-40B4-BE49-F238E27FC236}">
                <a16:creationId xmlns:a16="http://schemas.microsoft.com/office/drawing/2014/main" id="{5E9B5128-96DA-49C2-B11E-42DF8A69ECC1}"/>
              </a:ext>
            </a:extLst>
          </p:cNvPr>
          <p:cNvSpPr>
            <a:spLocks xmlns:a="http://schemas.openxmlformats.org/drawingml/2006/main" noGrp="1"/>
          </p:cNvSpPr>
          <p:nvPr/>
        </p:nvSpPr>
        <p:spPr>
          <a:xfrm xmlns:a="http://schemas.openxmlformats.org/drawingml/2006/main">
            <a:off x="609600" y="2257425"/>
            <a:ext cx="4457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The listed stereo amplifier needs revision or added channel control for four independent outputs.</a:t>
            </a:r>
          </a:p>
        </p:txBody>
      </p:sp>
      <p:sp>
        <p:nvSpPr>
          <p:cNvPr id="5" name="Test plan">
            <a:extLst xmlns:a="http://schemas.openxmlformats.org/drawingml/2006/main">
              <a:ext uri="{FF2B5EF4-FFF2-40B4-BE49-F238E27FC236}">
                <a16:creationId xmlns:a16="http://schemas.microsoft.com/office/drawing/2014/main" id="{AF52F962-FA4D-46A1-BD0C-0AE42F4FB1BC}"/>
              </a:ext>
            </a:extLst>
          </p:cNvPr>
          <p:cNvSpPr>
            <a:spLocks xmlns:a="http://schemas.openxmlformats.org/drawingml/2006/main" noGrp="1"/>
          </p:cNvSpPr>
          <p:nvPr/>
        </p:nvSpPr>
        <p:spPr>
          <a:xfrm xmlns:a="http://schemas.openxmlformats.org/drawingml/2006/main">
            <a:off x="609600" y="3371850"/>
            <a:ext cx="4457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Test plan</a:t>
            </a:r>
          </a:p>
        </p:txBody>
      </p:sp>
      <p:sp>
        <p:nvSpPr>
          <p:cNvPr id="6" name="Compare adaptive mode on and off near walls a">
            <a:extLst xmlns:a="http://schemas.openxmlformats.org/drawingml/2006/main">
              <a:ext uri="{FF2B5EF4-FFF2-40B4-BE49-F238E27FC236}">
                <a16:creationId xmlns:a16="http://schemas.microsoft.com/office/drawing/2014/main" id="{17DB66C3-6202-4869-B662-33069AE5A6AA}"/>
              </a:ext>
            </a:extLst>
          </p:cNvPr>
          <p:cNvSpPr>
            <a:spLocks xmlns:a="http://schemas.openxmlformats.org/drawingml/2006/main" noGrp="1"/>
          </p:cNvSpPr>
          <p:nvPr/>
        </p:nvSpPr>
        <p:spPr>
          <a:xfrm xmlns:a="http://schemas.openxmlformats.org/drawingml/2006/main">
            <a:off x="609600" y="3781425"/>
            <a:ext cx="4457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Compare adaptive mode on and off near walls and corners. Measure power and audible effects.</a:t>
            </a:r>
          </a:p>
        </p:txBody>
      </p:sp>
      <p:sp>
        <p:nvSpPr>
          <p:cNvPr id="7" name="Design questions">
            <a:extLst xmlns:a="http://schemas.openxmlformats.org/drawingml/2006/main">
              <a:ext uri="{FF2B5EF4-FFF2-40B4-BE49-F238E27FC236}">
                <a16:creationId xmlns:a16="http://schemas.microsoft.com/office/drawing/2014/main" id="{BBC30D88-D141-4391-BC5D-B4A4C8605102}"/>
              </a:ext>
            </a:extLst>
          </p:cNvPr>
          <p:cNvSpPr>
            <a:spLocks xmlns:a="http://schemas.openxmlformats.org/drawingml/2006/main" noGrp="1"/>
          </p:cNvSpPr>
          <p:nvPr/>
        </p:nvSpPr>
        <p:spPr>
          <a:xfrm xmlns:a="http://schemas.openxmlformats.org/drawingml/2006/main">
            <a:off x="609600" y="4895850"/>
            <a:ext cx="4457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Design questions</a:t>
            </a:r>
          </a:p>
        </p:txBody>
      </p:sp>
      <p:sp>
        <p:nvSpPr>
          <p:cNvPr id="8" name="Sensor thresholds, driver interaction, and in">
            <a:extLst xmlns:a="http://schemas.openxmlformats.org/drawingml/2006/main">
              <a:ext uri="{FF2B5EF4-FFF2-40B4-BE49-F238E27FC236}">
                <a16:creationId xmlns:a16="http://schemas.microsoft.com/office/drawing/2014/main" id="{4B02E990-BB22-435D-8A42-104AC67892B9}"/>
              </a:ext>
            </a:extLst>
          </p:cNvPr>
          <p:cNvSpPr>
            <a:spLocks xmlns:a="http://schemas.openxmlformats.org/drawingml/2006/main" noGrp="1"/>
          </p:cNvSpPr>
          <p:nvPr/>
        </p:nvSpPr>
        <p:spPr>
          <a:xfrm xmlns:a="http://schemas.openxmlformats.org/drawingml/2006/main">
            <a:off x="609600" y="5305425"/>
            <a:ext cx="4457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Sensor thresholds, driver interaction, and internal volume still need testing.</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21cd080965f4163"/>
          <a:stretch xmlns:a="http://schemas.openxmlformats.org/drawingml/2006/main"/>
        </p:blipFill>
        <p:spPr>
          <a:xfrm xmlns:a="http://schemas.openxmlformats.org/drawingml/2006/main">
            <a:off x="5529432" y="1857375"/>
            <a:ext cx="5895636" cy="4400550"/>
          </a:xfrm>
          <a:prstGeom xmlns:a="http://schemas.openxmlformats.org/drawingml/2006/main" prst="rect">
            <a:avLst/>
          </a:prstGeom>
        </p:spPr>
      </p:pic>
    </p:spTree>
    <p:extLst>
      <p:ext uri="{BB962C8B-B14F-4D97-AF65-F5344CB8AC3E}">
        <p14:creationId xmlns:p14="http://schemas.microsoft.com/office/powerpoint/2010/main" val="1968746840"/>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AFBCE9-34C6-4087-A5C8-BAF54046DF3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Speaker concept sketch</a:t>
            </a:r>
          </a:p>
        </p:txBody>
      </p:sp>
      <p:sp>
        <p:nvSpPr>
          <p:cNvPr id="2" name="">
            <a:extLst xmlns:a="http://schemas.openxmlformats.org/drawingml/2006/main">
              <a:ext uri="{FF2B5EF4-FFF2-40B4-BE49-F238E27FC236}">
                <a16:creationId xmlns:a16="http://schemas.microsoft.com/office/drawing/2014/main" id="{054E8262-52C7-4484-BD23-9E13A91EC9A0}"/>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Original notebook drawing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798e4d769804eba"/>
          <a:stretch xmlns:a="http://schemas.openxmlformats.org/drawingml/2006/main"/>
        </p:blipFill>
        <p:spPr>
          <a:xfrm xmlns:a="http://schemas.openxmlformats.org/drawingml/2006/main">
            <a:off x="1026319" y="1752600"/>
            <a:ext cx="3500438"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FE4A51-7880-4FBF-A520-EDD9B9AE6E60}"/>
              </a:ext>
            </a:extLst>
          </p:cNvPr>
          <p:cNvSpPr>
            <a:spLocks xmlns:a="http://schemas.openxmlformats.org/drawingml/2006/main" noGrp="1"/>
          </p:cNvSpPr>
          <p:nvPr/>
        </p:nvSpPr>
        <p:spPr>
          <a:xfrm xmlns:a="http://schemas.openxmlformats.org/drawingml/2006/main">
            <a:off x="5638800" y="2095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637"/>
                </a:solidFill>
                <a:latin typeface="DejaVu Sans"/>
                <a:ea typeface="DejaVu Sans"/>
                <a:cs typeface="DejaVu Sans"/>
              </a:defRPr>
            </a:pPr>
            <a:r>
              <a:rPr sz="2100" b="1">
                <a:solidFill>
                  <a:srgbClr val="102637"/>
                </a:solidFill>
                <a:latin typeface="DejaVu Sans"/>
                <a:ea typeface="DejaVu Sans"/>
                <a:cs typeface="DejaVu Sans"/>
              </a:rPr>
              <a:t>Structure</a:t>
            </a:r>
          </a:p>
        </p:txBody>
      </p:sp>
      <p:sp>
        <p:nvSpPr>
          <p:cNvPr id="5" name="">
            <a:extLst xmlns:a="http://schemas.openxmlformats.org/drawingml/2006/main">
              <a:ext uri="{FF2B5EF4-FFF2-40B4-BE49-F238E27FC236}">
                <a16:creationId xmlns:a16="http://schemas.microsoft.com/office/drawing/2014/main" id="{C516AC06-605F-45A1-ADAD-39D7050E7E95}"/>
              </a:ext>
            </a:extLst>
          </p:cNvPr>
          <p:cNvSpPr>
            <a:spLocks xmlns:a="http://schemas.openxmlformats.org/drawingml/2006/main" noGrp="1"/>
          </p:cNvSpPr>
          <p:nvPr/>
        </p:nvSpPr>
        <p:spPr>
          <a:xfrm xmlns:a="http://schemas.openxmlformats.org/drawingml/2006/main">
            <a:off x="5638800" y="258127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C626E"/>
                </a:solidFill>
                <a:latin typeface="DejaVu Sans"/>
                <a:ea typeface="DejaVu Sans"/>
                <a:cs typeface="DejaVu Sans"/>
              </a:defRPr>
            </a:pPr>
            <a:r>
              <a:rPr sz="1950" b="0">
                <a:solidFill>
                  <a:srgbClr val="4C626E"/>
                </a:solidFill>
                <a:latin typeface="DejaVu Sans"/>
                <a:ea typeface="DejaVu Sans"/>
                <a:cs typeface="DejaVu Sans"/>
              </a:rPr>
              <a:t>Four internal posts support the enclosure and provide mounting locations.</a:t>
            </a:r>
          </a:p>
        </p:txBody>
      </p:sp>
      <p:sp>
        <p:nvSpPr>
          <p:cNvPr id="6" name="">
            <a:extLst xmlns:a="http://schemas.openxmlformats.org/drawingml/2006/main">
              <a:ext uri="{FF2B5EF4-FFF2-40B4-BE49-F238E27FC236}">
                <a16:creationId xmlns:a16="http://schemas.microsoft.com/office/drawing/2014/main" id="{28705D42-A066-4C67-A011-218C01F08A92}"/>
              </a:ext>
            </a:extLst>
          </p:cNvPr>
          <p:cNvSpPr>
            <a:spLocks xmlns:a="http://schemas.openxmlformats.org/drawingml/2006/main" noGrp="1"/>
          </p:cNvSpPr>
          <p:nvPr/>
        </p:nvSpPr>
        <p:spPr>
          <a:xfrm xmlns:a="http://schemas.openxmlformats.org/drawingml/2006/main">
            <a:off x="5638800" y="36957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637"/>
                </a:solidFill>
                <a:latin typeface="DejaVu Sans"/>
                <a:ea typeface="DejaVu Sans"/>
                <a:cs typeface="DejaVu Sans"/>
              </a:defRPr>
            </a:pPr>
            <a:r>
              <a:rPr sz="2100" b="1">
                <a:solidFill>
                  <a:srgbClr val="102637"/>
                </a:solidFill>
                <a:latin typeface="DejaVu Sans"/>
                <a:ea typeface="DejaVu Sans"/>
                <a:cs typeface="DejaVu Sans"/>
              </a:rPr>
              <a:t>Access and controls</a:t>
            </a:r>
          </a:p>
        </p:txBody>
      </p:sp>
      <p:sp>
        <p:nvSpPr>
          <p:cNvPr id="7" name="">
            <a:extLst xmlns:a="http://schemas.openxmlformats.org/drawingml/2006/main">
              <a:ext uri="{FF2B5EF4-FFF2-40B4-BE49-F238E27FC236}">
                <a16:creationId xmlns:a16="http://schemas.microsoft.com/office/drawing/2014/main" id="{24C4F384-8722-48D1-A37D-7A666EC1E0CB}"/>
              </a:ext>
            </a:extLst>
          </p:cNvPr>
          <p:cNvSpPr>
            <a:spLocks xmlns:a="http://schemas.openxmlformats.org/drawingml/2006/main" noGrp="1"/>
          </p:cNvSpPr>
          <p:nvPr/>
        </p:nvSpPr>
        <p:spPr>
          <a:xfrm xmlns:a="http://schemas.openxmlformats.org/drawingml/2006/main">
            <a:off x="5638800" y="4181475"/>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C626E"/>
                </a:solidFill>
                <a:latin typeface="DejaVu Sans"/>
                <a:ea typeface="DejaVu Sans"/>
                <a:cs typeface="DejaVu Sans"/>
              </a:defRPr>
            </a:pPr>
            <a:r>
              <a:rPr sz="1950" b="0">
                <a:solidFill>
                  <a:srgbClr val="4C626E"/>
                </a:solidFill>
                <a:latin typeface="DejaVu Sans"/>
                <a:ea typeface="DejaVu Sans"/>
                <a:cs typeface="DejaVu Sans"/>
              </a:rPr>
              <a:t>Top controls and bottom service access appear in the original sketch.</a:t>
            </a:r>
          </a:p>
        </p:txBody>
      </p:sp>
      <p:sp>
        <p:nvSpPr>
          <p:cNvPr id="8" name="">
            <a:extLst xmlns:a="http://schemas.openxmlformats.org/drawingml/2006/main">
              <a:ext uri="{FF2B5EF4-FFF2-40B4-BE49-F238E27FC236}">
                <a16:creationId xmlns:a16="http://schemas.microsoft.com/office/drawing/2014/main" id="{A02AD8CE-FF8F-4DA9-962B-CD5B41D90C89}"/>
              </a:ext>
            </a:extLst>
          </p:cNvPr>
          <p:cNvSpPr>
            <a:spLocks xmlns:a="http://schemas.openxmlformats.org/drawingml/2006/main" noGrp="1"/>
          </p:cNvSpPr>
          <p:nvPr/>
        </p:nvSpPr>
        <p:spPr>
          <a:xfrm xmlns:a="http://schemas.openxmlformats.org/drawingml/2006/main">
            <a:off x="5638800" y="5534025"/>
            <a:ext cx="5810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C626E"/>
                </a:solidFill>
                <a:latin typeface="DejaVu Sans"/>
                <a:ea typeface="DejaVu Sans"/>
                <a:cs typeface="DejaVu Sans"/>
              </a:defRPr>
            </a:pPr>
            <a:r>
              <a:rPr sz="1650" b="0">
                <a:solidFill>
                  <a:srgbClr val="4C626E"/>
                </a:solidFill>
                <a:latin typeface="DejaVu Sans"/>
                <a:ea typeface="DejaVu Sans"/>
                <a:cs typeface="DejaVu Sans"/>
              </a:rPr>
              <a:t>Early concept sketch. Final proposal dimensions appear on the enclosure slide.</a:t>
            </a:r>
          </a:p>
        </p:txBody>
      </p:sp>
    </p:spTree>
    <p:extLst>
      <p:ext uri="{BB962C8B-B14F-4D97-AF65-F5344CB8AC3E}">
        <p14:creationId xmlns:p14="http://schemas.microsoft.com/office/powerpoint/2010/main" val="851041854"/>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Minecraft chess set">
            <a:extLst xmlns:a="http://schemas.openxmlformats.org/drawingml/2006/main">
              <a:ext uri="{FF2B5EF4-FFF2-40B4-BE49-F238E27FC236}">
                <a16:creationId xmlns:a16="http://schemas.microsoft.com/office/drawing/2014/main" id="{2701B785-DD28-4702-A0BE-D61EE136722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Minecraft chess set</a:t>
            </a:r>
          </a:p>
        </p:txBody>
      </p:sp>
      <p:sp>
        <p:nvSpPr>
          <p:cNvPr id="2" name="PLTW 2024 · Individual parts in a team assemb">
            <a:extLst xmlns:a="http://schemas.openxmlformats.org/drawingml/2006/main">
              <a:ext uri="{FF2B5EF4-FFF2-40B4-BE49-F238E27FC236}">
                <a16:creationId xmlns:a16="http://schemas.microsoft.com/office/drawing/2014/main" id="{D03CDCA2-F1D4-4A4E-95C6-C93065096B29}"/>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PLTW 2024 · Individual parts in a team assembly</a:t>
            </a:r>
          </a:p>
        </p:txBody>
      </p:sp>
      <p:sp>
        <p:nvSpPr>
          <p:cNvPr id="3" name="My parts">
            <a:extLst xmlns:a="http://schemas.openxmlformats.org/drawingml/2006/main">
              <a:ext uri="{FF2B5EF4-FFF2-40B4-BE49-F238E27FC236}">
                <a16:creationId xmlns:a16="http://schemas.microsoft.com/office/drawing/2014/main" id="{12488B51-96DB-4203-93DB-85B1C0144AD7}"/>
              </a:ext>
            </a:extLst>
          </p:cNvPr>
          <p:cNvSpPr>
            <a:spLocks xmlns:a="http://schemas.openxmlformats.org/drawingml/2006/main" noGrp="1"/>
          </p:cNvSpPr>
          <p:nvPr/>
        </p:nvSpPr>
        <p:spPr>
          <a:xfrm xmlns:a="http://schemas.openxmlformats.org/drawingml/2006/main">
            <a:off x="609600" y="184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My parts</a:t>
            </a:r>
          </a:p>
        </p:txBody>
      </p:sp>
      <p:sp>
        <p:nvSpPr>
          <p:cNvPr id="4" name="Knight, Steve piece, and wolf bishop. Drawing">
            <a:extLst xmlns:a="http://schemas.openxmlformats.org/drawingml/2006/main">
              <a:ext uri="{FF2B5EF4-FFF2-40B4-BE49-F238E27FC236}">
                <a16:creationId xmlns:a16="http://schemas.microsoft.com/office/drawing/2014/main" id="{16761CD3-7CA6-49B5-9861-E22241C38D8F}"/>
              </a:ext>
            </a:extLst>
          </p:cNvPr>
          <p:cNvSpPr>
            <a:spLocks xmlns:a="http://schemas.openxmlformats.org/drawingml/2006/main" noGrp="1"/>
          </p:cNvSpPr>
          <p:nvPr/>
        </p:nvSpPr>
        <p:spPr>
          <a:xfrm xmlns:a="http://schemas.openxmlformats.org/drawingml/2006/main">
            <a:off x="609600" y="225742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Knight, Steve piece, and wolf bishop. Drawing title blocks identify my contribution.</a:t>
            </a:r>
          </a:p>
        </p:txBody>
      </p:sp>
      <p:sp>
        <p:nvSpPr>
          <p:cNvPr id="5" name="Documentation">
            <a:extLst xmlns:a="http://schemas.openxmlformats.org/drawingml/2006/main">
              <a:ext uri="{FF2B5EF4-FFF2-40B4-BE49-F238E27FC236}">
                <a16:creationId xmlns:a16="http://schemas.microsoft.com/office/drawing/2014/main" id="{2F5FB261-1310-44E8-A460-F53129516D7E}"/>
              </a:ext>
            </a:extLst>
          </p:cNvPr>
          <p:cNvSpPr>
            <a:spLocks xmlns:a="http://schemas.openxmlformats.org/drawingml/2006/main" noGrp="1"/>
          </p:cNvSpPr>
          <p:nvPr/>
        </p:nvSpPr>
        <p:spPr>
          <a:xfrm xmlns:a="http://schemas.openxmlformats.org/drawingml/2006/main">
            <a:off x="609600" y="3371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Documentation</a:t>
            </a:r>
          </a:p>
        </p:txBody>
      </p:sp>
      <p:sp>
        <p:nvSpPr>
          <p:cNvPr id="6" name="Dimensioned views and neutral STEP geometry p">
            <a:extLst xmlns:a="http://schemas.openxmlformats.org/drawingml/2006/main">
              <a:ext uri="{FF2B5EF4-FFF2-40B4-BE49-F238E27FC236}">
                <a16:creationId xmlns:a16="http://schemas.microsoft.com/office/drawing/2014/main" id="{E4DDC903-C9A5-444B-A589-6A8068D5D4F1}"/>
              </a:ext>
            </a:extLst>
          </p:cNvPr>
          <p:cNvSpPr>
            <a:spLocks xmlns:a="http://schemas.openxmlformats.org/drawingml/2006/main" noGrp="1"/>
          </p:cNvSpPr>
          <p:nvPr/>
        </p:nvSpPr>
        <p:spPr>
          <a:xfrm xmlns:a="http://schemas.openxmlformats.org/drawingml/2006/main">
            <a:off x="609600" y="378142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Dimensioned views and neutral STEP geometry preserve the designs.</a:t>
            </a:r>
          </a:p>
        </p:txBody>
      </p:sp>
      <p:sp>
        <p:nvSpPr>
          <p:cNvPr id="7" name="Next iteration">
            <a:extLst xmlns:a="http://schemas.openxmlformats.org/drawingml/2006/main">
              <a:ext uri="{FF2B5EF4-FFF2-40B4-BE49-F238E27FC236}">
                <a16:creationId xmlns:a16="http://schemas.microsoft.com/office/drawing/2014/main" id="{A42F1779-9B97-4CC4-B026-D47CCBDCCCAD}"/>
              </a:ext>
            </a:extLst>
          </p:cNvPr>
          <p:cNvSpPr>
            <a:spLocks xmlns:a="http://schemas.openxmlformats.org/drawingml/2006/main" noGrp="1"/>
          </p:cNvSpPr>
          <p:nvPr/>
        </p:nvSpPr>
        <p:spPr>
          <a:xfrm xmlns:a="http://schemas.openxmlformats.org/drawingml/2006/main">
            <a:off x="609600" y="4895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Next iteration</a:t>
            </a:r>
          </a:p>
        </p:txBody>
      </p:sp>
      <p:sp>
        <p:nvSpPr>
          <p:cNvPr id="8" name="Check manufacturability and base consistency ">
            <a:extLst xmlns:a="http://schemas.openxmlformats.org/drawingml/2006/main">
              <a:ext uri="{FF2B5EF4-FFF2-40B4-BE49-F238E27FC236}">
                <a16:creationId xmlns:a16="http://schemas.microsoft.com/office/drawing/2014/main" id="{617FE6DA-1AD2-49D1-A639-D5837D6703C8}"/>
              </a:ext>
            </a:extLst>
          </p:cNvPr>
          <p:cNvSpPr>
            <a:spLocks xmlns:a="http://schemas.openxmlformats.org/drawingml/2006/main" noGrp="1"/>
          </p:cNvSpPr>
          <p:nvPr/>
        </p:nvSpPr>
        <p:spPr>
          <a:xfrm xmlns:a="http://schemas.openxmlformats.org/drawingml/2006/main">
            <a:off x="609600" y="530542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Check manufacturability and base consistency with a physical test print.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818e8b329b0413d"/>
          <a:stretch xmlns:a="http://schemas.openxmlformats.org/drawingml/2006/main"/>
        </p:blipFill>
        <p:spPr>
          <a:xfrm xmlns:a="http://schemas.openxmlformats.org/drawingml/2006/main">
            <a:off x="5334000" y="2067091"/>
            <a:ext cx="6248400" cy="4028743"/>
          </a:xfrm>
          <a:prstGeom xmlns:a="http://schemas.openxmlformats.org/drawingml/2006/main" prst="rect">
            <a:avLst/>
          </a:prstGeom>
        </p:spPr>
      </p:pic>
    </p:spTree>
    <p:extLst>
      <p:ext uri="{BB962C8B-B14F-4D97-AF65-F5344CB8AC3E}">
        <p14:creationId xmlns:p14="http://schemas.microsoft.com/office/powerpoint/2010/main" val="426864410"/>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ED7D19-2269-4D2D-AEBA-27EE3634CE6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Knight</a:t>
            </a:r>
          </a:p>
        </p:txBody>
      </p:sp>
      <p:sp>
        <p:nvSpPr>
          <p:cNvPr id="2" name="">
            <a:extLst xmlns:a="http://schemas.openxmlformats.org/drawingml/2006/main">
              <a:ext uri="{FF2B5EF4-FFF2-40B4-BE49-F238E27FC236}">
                <a16:creationId xmlns:a16="http://schemas.microsoft.com/office/drawing/2014/main" id="{0E77CA61-3D4B-4B43-AAEC-CD8F4D25BDE7}"/>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My Minecraft chess design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ee6ab9c7914ab2"/>
          <a:stretch xmlns:a="http://schemas.openxmlformats.org/drawingml/2006/main"/>
        </p:blipFill>
        <p:spPr>
          <a:xfrm xmlns:a="http://schemas.openxmlformats.org/drawingml/2006/main">
            <a:off x="609600" y="2218892"/>
            <a:ext cx="4238625" cy="3467966"/>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055e61c220042fb"/>
          <a:stretch xmlns:a="http://schemas.openxmlformats.org/drawingml/2006/main"/>
        </p:blipFill>
        <p:spPr>
          <a:xfrm xmlns:a="http://schemas.openxmlformats.org/drawingml/2006/main">
            <a:off x="5257800" y="1926831"/>
            <a:ext cx="6324600" cy="405208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AE0E94-2D3F-411D-8701-1FE4B0EA1DCE}"/>
              </a:ext>
            </a:extLst>
          </p:cNvPr>
          <p:cNvSpPr>
            <a:spLocks xmlns:a="http://schemas.openxmlformats.org/drawingml/2006/main" noGrp="1"/>
          </p:cNvSpPr>
          <p:nvPr/>
        </p:nvSpPr>
        <p:spPr>
          <a:xfrm xmlns:a="http://schemas.openxmlformats.org/drawingml/2006/main">
            <a:off x="609600" y="6257925"/>
            <a:ext cx="4238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CAD geometry</a:t>
            </a:r>
          </a:p>
        </p:txBody>
      </p:sp>
      <p:sp>
        <p:nvSpPr>
          <p:cNvPr id="6" name="">
            <a:extLst xmlns:a="http://schemas.openxmlformats.org/drawingml/2006/main">
              <a:ext uri="{FF2B5EF4-FFF2-40B4-BE49-F238E27FC236}">
                <a16:creationId xmlns:a16="http://schemas.microsoft.com/office/drawing/2014/main" id="{959BB191-4C9A-4152-8240-363992AC4F9F}"/>
              </a:ext>
            </a:extLst>
          </p:cNvPr>
          <p:cNvSpPr>
            <a:spLocks xmlns:a="http://schemas.openxmlformats.org/drawingml/2006/main" noGrp="1"/>
          </p:cNvSpPr>
          <p:nvPr/>
        </p:nvSpPr>
        <p:spPr>
          <a:xfrm xmlns:a="http://schemas.openxmlformats.org/drawingml/2006/main">
            <a:off x="5257800" y="6257925"/>
            <a:ext cx="632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Original engineering drawing</a:t>
            </a:r>
          </a:p>
        </p:txBody>
      </p:sp>
    </p:spTree>
    <p:extLst>
      <p:ext uri="{BB962C8B-B14F-4D97-AF65-F5344CB8AC3E}">
        <p14:creationId xmlns:p14="http://schemas.microsoft.com/office/powerpoint/2010/main" val="481790429"/>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E5C8A1-1B8D-4D36-8F8C-836AFED28CED}"/>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Steve piece</a:t>
            </a:r>
          </a:p>
        </p:txBody>
      </p:sp>
      <p:sp>
        <p:nvSpPr>
          <p:cNvPr id="2" name="">
            <a:extLst xmlns:a="http://schemas.openxmlformats.org/drawingml/2006/main">
              <a:ext uri="{FF2B5EF4-FFF2-40B4-BE49-F238E27FC236}">
                <a16:creationId xmlns:a16="http://schemas.microsoft.com/office/drawing/2014/main" id="{09F4CF91-2A3D-4A2B-B1AF-E3458815AE19}"/>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My Minecraft chess design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0405e2ed87c4e23"/>
          <a:stretch xmlns:a="http://schemas.openxmlformats.org/drawingml/2006/main"/>
        </p:blipFill>
        <p:spPr>
          <a:xfrm xmlns:a="http://schemas.openxmlformats.org/drawingml/2006/main">
            <a:off x="609600" y="2218892"/>
            <a:ext cx="4238625" cy="3467966"/>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6955462ee9d4cb6"/>
          <a:stretch xmlns:a="http://schemas.openxmlformats.org/drawingml/2006/main"/>
        </p:blipFill>
        <p:spPr>
          <a:xfrm xmlns:a="http://schemas.openxmlformats.org/drawingml/2006/main">
            <a:off x="5257800" y="1920929"/>
            <a:ext cx="6324600" cy="40638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2316FD-83B9-4B39-9989-3FA76D1F6A7E}"/>
              </a:ext>
            </a:extLst>
          </p:cNvPr>
          <p:cNvSpPr>
            <a:spLocks xmlns:a="http://schemas.openxmlformats.org/drawingml/2006/main" noGrp="1"/>
          </p:cNvSpPr>
          <p:nvPr/>
        </p:nvSpPr>
        <p:spPr>
          <a:xfrm xmlns:a="http://schemas.openxmlformats.org/drawingml/2006/main">
            <a:off x="609600" y="6257925"/>
            <a:ext cx="4238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CAD geometry</a:t>
            </a:r>
          </a:p>
        </p:txBody>
      </p:sp>
      <p:sp>
        <p:nvSpPr>
          <p:cNvPr id="6" name="">
            <a:extLst xmlns:a="http://schemas.openxmlformats.org/drawingml/2006/main">
              <a:ext uri="{FF2B5EF4-FFF2-40B4-BE49-F238E27FC236}">
                <a16:creationId xmlns:a16="http://schemas.microsoft.com/office/drawing/2014/main" id="{6179A565-0C5C-4563-94E4-655C46CB76AB}"/>
              </a:ext>
            </a:extLst>
          </p:cNvPr>
          <p:cNvSpPr>
            <a:spLocks xmlns:a="http://schemas.openxmlformats.org/drawingml/2006/main" noGrp="1"/>
          </p:cNvSpPr>
          <p:nvPr/>
        </p:nvSpPr>
        <p:spPr>
          <a:xfrm xmlns:a="http://schemas.openxmlformats.org/drawingml/2006/main">
            <a:off x="5257800" y="6257925"/>
            <a:ext cx="632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Original engineering drawing</a:t>
            </a:r>
          </a:p>
        </p:txBody>
      </p:sp>
    </p:spTree>
    <p:extLst>
      <p:ext uri="{BB962C8B-B14F-4D97-AF65-F5344CB8AC3E}">
        <p14:creationId xmlns:p14="http://schemas.microsoft.com/office/powerpoint/2010/main" val="2104199589"/>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427927-01E5-46F5-8D5F-9D74B68B0A5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Wolf bishop</a:t>
            </a:r>
          </a:p>
        </p:txBody>
      </p:sp>
      <p:sp>
        <p:nvSpPr>
          <p:cNvPr id="2" name="">
            <a:extLst xmlns:a="http://schemas.openxmlformats.org/drawingml/2006/main">
              <a:ext uri="{FF2B5EF4-FFF2-40B4-BE49-F238E27FC236}">
                <a16:creationId xmlns:a16="http://schemas.microsoft.com/office/drawing/2014/main" id="{5119E9D5-3927-4D99-BD06-3AFE78B84C4B}"/>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My Minecraft chess design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2b30f77c8d748e6"/>
          <a:stretch xmlns:a="http://schemas.openxmlformats.org/drawingml/2006/main"/>
        </p:blipFill>
        <p:spPr>
          <a:xfrm xmlns:a="http://schemas.openxmlformats.org/drawingml/2006/main">
            <a:off x="609600" y="2218892"/>
            <a:ext cx="4238625" cy="3467966"/>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fb701229d148e1"/>
          <a:stretch xmlns:a="http://schemas.openxmlformats.org/drawingml/2006/main"/>
        </p:blipFill>
        <p:spPr>
          <a:xfrm xmlns:a="http://schemas.openxmlformats.org/drawingml/2006/main">
            <a:off x="5257800" y="1918673"/>
            <a:ext cx="6324600" cy="406840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1BB6035-93B4-4372-B666-5D549BC51CDE}"/>
              </a:ext>
            </a:extLst>
          </p:cNvPr>
          <p:cNvSpPr>
            <a:spLocks xmlns:a="http://schemas.openxmlformats.org/drawingml/2006/main" noGrp="1"/>
          </p:cNvSpPr>
          <p:nvPr/>
        </p:nvSpPr>
        <p:spPr>
          <a:xfrm xmlns:a="http://schemas.openxmlformats.org/drawingml/2006/main">
            <a:off x="609600" y="6257925"/>
            <a:ext cx="4238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CAD geometry</a:t>
            </a:r>
          </a:p>
        </p:txBody>
      </p:sp>
      <p:sp>
        <p:nvSpPr>
          <p:cNvPr id="6" name="">
            <a:extLst xmlns:a="http://schemas.openxmlformats.org/drawingml/2006/main">
              <a:ext uri="{FF2B5EF4-FFF2-40B4-BE49-F238E27FC236}">
                <a16:creationId xmlns:a16="http://schemas.microsoft.com/office/drawing/2014/main" id="{1583A7CC-AFEA-4D75-A5B0-FAFA33F16801}"/>
              </a:ext>
            </a:extLst>
          </p:cNvPr>
          <p:cNvSpPr>
            <a:spLocks xmlns:a="http://schemas.openxmlformats.org/drawingml/2006/main" noGrp="1"/>
          </p:cNvSpPr>
          <p:nvPr/>
        </p:nvSpPr>
        <p:spPr>
          <a:xfrm xmlns:a="http://schemas.openxmlformats.org/drawingml/2006/main">
            <a:off x="5257800" y="6257925"/>
            <a:ext cx="632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C626E"/>
                </a:solidFill>
                <a:latin typeface="DejaVu Sans"/>
                <a:ea typeface="DejaVu Sans"/>
                <a:cs typeface="DejaVu Sans"/>
              </a:defRPr>
            </a:pPr>
            <a:r>
              <a:rPr sz="1500" b="0">
                <a:solidFill>
                  <a:srgbClr val="4C626E"/>
                </a:solidFill>
                <a:latin typeface="DejaVu Sans"/>
                <a:ea typeface="DejaVu Sans"/>
                <a:cs typeface="DejaVu Sans"/>
              </a:rPr>
              <a:t>Original engineering drawing</a:t>
            </a:r>
          </a:p>
        </p:txBody>
      </p:sp>
    </p:spTree>
    <p:extLst>
      <p:ext uri="{BB962C8B-B14F-4D97-AF65-F5344CB8AC3E}">
        <p14:creationId xmlns:p14="http://schemas.microsoft.com/office/powerpoint/2010/main" val="297469664"/>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1" name="Star container and CAM studies">
            <a:extLst xmlns:a="http://schemas.openxmlformats.org/drawingml/2006/main">
              <a:ext uri="{FF2B5EF4-FFF2-40B4-BE49-F238E27FC236}">
                <a16:creationId xmlns:a16="http://schemas.microsoft.com/office/drawing/2014/main" id="{A2E6142B-E373-47AC-8BD2-29DE5415F7A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Star container and CAM studies</a:t>
            </a:r>
          </a:p>
        </p:txBody>
      </p:sp>
      <p:sp>
        <p:nvSpPr>
          <p:cNvPr id="2" name="PLTW 2025 · CAD models and toolpath simulatio">
            <a:extLst xmlns:a="http://schemas.openxmlformats.org/drawingml/2006/main">
              <a:ext uri="{FF2B5EF4-FFF2-40B4-BE49-F238E27FC236}">
                <a16:creationId xmlns:a16="http://schemas.microsoft.com/office/drawing/2014/main" id="{89AFF6FB-F171-4464-802A-426E48E1FA6D}"/>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PLTW 2025 · CAD models and toolpath simulations</a:t>
            </a:r>
          </a:p>
        </p:txBody>
      </p:sp>
      <p:sp>
        <p:nvSpPr>
          <p:cNvPr id="3" name="Part geometry">
            <a:extLst xmlns:a="http://schemas.openxmlformats.org/drawingml/2006/main">
              <a:ext uri="{FF2B5EF4-FFF2-40B4-BE49-F238E27FC236}">
                <a16:creationId xmlns:a16="http://schemas.microsoft.com/office/drawing/2014/main" id="{60A96118-A2A6-4F12-95C0-B8F30A80F5FA}"/>
              </a:ext>
            </a:extLst>
          </p:cNvPr>
          <p:cNvSpPr>
            <a:spLocks xmlns:a="http://schemas.openxmlformats.org/drawingml/2006/main" noGrp="1"/>
          </p:cNvSpPr>
          <p:nvPr/>
        </p:nvSpPr>
        <p:spPr>
          <a:xfrm xmlns:a="http://schemas.openxmlformats.org/drawingml/2006/main">
            <a:off x="609600" y="184785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Part geometry</a:t>
            </a:r>
          </a:p>
        </p:txBody>
      </p:sp>
      <p:sp>
        <p:nvSpPr>
          <p:cNvPr id="4" name="A star-shaped base and fitted lid. Sketches e">
            <a:extLst xmlns:a="http://schemas.openxmlformats.org/drawingml/2006/main">
              <a:ext uri="{FF2B5EF4-FFF2-40B4-BE49-F238E27FC236}">
                <a16:creationId xmlns:a16="http://schemas.microsoft.com/office/drawing/2014/main" id="{A15FFCC3-8D26-4FDA-9DBC-C62BD5FBCF1A}"/>
              </a:ext>
            </a:extLst>
          </p:cNvPr>
          <p:cNvSpPr>
            <a:spLocks xmlns:a="http://schemas.openxmlformats.org/drawingml/2006/main" noGrp="1"/>
          </p:cNvSpPr>
          <p:nvPr/>
        </p:nvSpPr>
        <p:spPr>
          <a:xfrm xmlns:a="http://schemas.openxmlformats.org/drawingml/2006/main">
            <a:off x="609600" y="2257425"/>
            <a:ext cx="4324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A star-shaped base and fitted lid. Sketches examine the fit between the opening and the lid.</a:t>
            </a:r>
          </a:p>
        </p:txBody>
      </p:sp>
      <p:sp>
        <p:nvSpPr>
          <p:cNvPr id="5" name="CAM work">
            <a:extLst xmlns:a="http://schemas.openxmlformats.org/drawingml/2006/main">
              <a:ext uri="{FF2B5EF4-FFF2-40B4-BE49-F238E27FC236}">
                <a16:creationId xmlns:a16="http://schemas.microsoft.com/office/drawing/2014/main" id="{3DCBB31C-D1F9-489A-A594-0CBF32FD1FA8}"/>
              </a:ext>
            </a:extLst>
          </p:cNvPr>
          <p:cNvSpPr>
            <a:spLocks xmlns:a="http://schemas.openxmlformats.org/drawingml/2006/main" noGrp="1"/>
          </p:cNvSpPr>
          <p:nvPr/>
        </p:nvSpPr>
        <p:spPr>
          <a:xfrm xmlns:a="http://schemas.openxmlformats.org/drawingml/2006/main">
            <a:off x="609600" y="337185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CAM work</a:t>
            </a:r>
          </a:p>
        </p:txBody>
      </p:sp>
      <p:sp>
        <p:nvSpPr>
          <p:cNvPr id="6" name="2D pockets and contours, with related studies">
            <a:extLst xmlns:a="http://schemas.openxmlformats.org/drawingml/2006/main">
              <a:ext uri="{FF2B5EF4-FFF2-40B4-BE49-F238E27FC236}">
                <a16:creationId xmlns:a16="http://schemas.microsoft.com/office/drawing/2014/main" id="{847B5AC5-3E8A-44F3-BA51-DD38265D42A9}"/>
              </a:ext>
            </a:extLst>
          </p:cNvPr>
          <p:cNvSpPr>
            <a:spLocks xmlns:a="http://schemas.openxmlformats.org/drawingml/2006/main" noGrp="1"/>
          </p:cNvSpPr>
          <p:nvPr/>
        </p:nvSpPr>
        <p:spPr>
          <a:xfrm xmlns:a="http://schemas.openxmlformats.org/drawingml/2006/main">
            <a:off x="609600" y="3781425"/>
            <a:ext cx="4324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2D pockets and contours, with related studies in facing, slotting, drilling, and surface machining.</a:t>
            </a:r>
          </a:p>
        </p:txBody>
      </p:sp>
      <p:sp>
        <p:nvSpPr>
          <p:cNvPr id="7" name="Lesson">
            <a:extLst xmlns:a="http://schemas.openxmlformats.org/drawingml/2006/main">
              <a:ext uri="{FF2B5EF4-FFF2-40B4-BE49-F238E27FC236}">
                <a16:creationId xmlns:a16="http://schemas.microsoft.com/office/drawing/2014/main" id="{AD758B77-91F7-4CED-8671-2DC864E59C86}"/>
              </a:ext>
            </a:extLst>
          </p:cNvPr>
          <p:cNvSpPr>
            <a:spLocks xmlns:a="http://schemas.openxmlformats.org/drawingml/2006/main" noGrp="1"/>
          </p:cNvSpPr>
          <p:nvPr/>
        </p:nvSpPr>
        <p:spPr>
          <a:xfrm xmlns:a="http://schemas.openxmlformats.org/drawingml/2006/main">
            <a:off x="609600" y="489585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Lesson</a:t>
            </a:r>
          </a:p>
        </p:txBody>
      </p:sp>
      <p:sp>
        <p:nvSpPr>
          <p:cNvPr id="8" name="Plan tool access while modeling. Reduce unnec">
            <a:extLst xmlns:a="http://schemas.openxmlformats.org/drawingml/2006/main">
              <a:ext uri="{FF2B5EF4-FFF2-40B4-BE49-F238E27FC236}">
                <a16:creationId xmlns:a16="http://schemas.microsoft.com/office/drawing/2014/main" id="{F7F615CD-6F4D-42AA-9437-81B2064B76EE}"/>
              </a:ext>
            </a:extLst>
          </p:cNvPr>
          <p:cNvSpPr>
            <a:spLocks xmlns:a="http://schemas.openxmlformats.org/drawingml/2006/main" noGrp="1"/>
          </p:cNvSpPr>
          <p:nvPr/>
        </p:nvSpPr>
        <p:spPr>
          <a:xfrm xmlns:a="http://schemas.openxmlformats.org/drawingml/2006/main">
            <a:off x="609600" y="5305425"/>
            <a:ext cx="4324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Plan tool access while modeling. Reduce unnecessary tool travel.</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6f7cdf832e941b6"/>
          <a:stretch xmlns:a="http://schemas.openxmlformats.org/drawingml/2006/main"/>
        </p:blipFill>
        <p:spPr>
          <a:xfrm xmlns:a="http://schemas.openxmlformats.org/drawingml/2006/main">
            <a:off x="6826619" y="1809750"/>
            <a:ext cx="3110762" cy="2619375"/>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e5e9e24bea5439a"/>
          <a:stretch xmlns:a="http://schemas.openxmlformats.org/drawingml/2006/main"/>
        </p:blipFill>
        <p:spPr>
          <a:xfrm xmlns:a="http://schemas.openxmlformats.org/drawingml/2006/main">
            <a:off x="6896060" y="4457700"/>
            <a:ext cx="2971881" cy="1790700"/>
          </a:xfrm>
          <a:prstGeom xmlns:a="http://schemas.openxmlformats.org/drawingml/2006/main" prst="rect">
            <a:avLst/>
          </a:prstGeom>
        </p:spPr>
      </p:pic>
    </p:spTree>
    <p:extLst>
      <p:ext uri="{BB962C8B-B14F-4D97-AF65-F5344CB8AC3E}">
        <p14:creationId xmlns:p14="http://schemas.microsoft.com/office/powerpoint/2010/main" val="603630751"/>
      </p:ext>
    </p:extLst>
  </p:cSld>
</p:sld>
</file>

<file path=ppt/slides/slide1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E456C3-B1CC-403C-8B6E-49B7D47F287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Container sketches and CAM evidence</a:t>
            </a:r>
          </a:p>
        </p:txBody>
      </p:sp>
      <p:sp>
        <p:nvSpPr>
          <p:cNvPr id="2" name="">
            <a:extLst xmlns:a="http://schemas.openxmlformats.org/drawingml/2006/main">
              <a:ext uri="{FF2B5EF4-FFF2-40B4-BE49-F238E27FC236}">
                <a16:creationId xmlns:a16="http://schemas.microsoft.com/office/drawing/2014/main" id="{01E1F185-78B2-448E-A388-AF6871832833}"/>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Original design record and machining simulations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847c7294e534029"/>
          <a:stretch xmlns:a="http://schemas.openxmlformats.org/drawingml/2006/main"/>
        </p:blipFill>
        <p:spPr>
          <a:xfrm xmlns:a="http://schemas.openxmlformats.org/drawingml/2006/main">
            <a:off x="609600" y="2741301"/>
            <a:ext cx="3429000" cy="197547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179DC8-1DC9-4F7B-A354-60E393F7B51D}"/>
              </a:ext>
            </a:extLst>
          </p:cNvPr>
          <p:cNvSpPr>
            <a:spLocks xmlns:a="http://schemas.openxmlformats.org/drawingml/2006/main" noGrp="1"/>
          </p:cNvSpPr>
          <p:nvPr/>
        </p:nvSpPr>
        <p:spPr>
          <a:xfrm xmlns:a="http://schemas.openxmlformats.org/drawingml/2006/main">
            <a:off x="609600" y="56292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C626E"/>
                </a:solidFill>
                <a:latin typeface="DejaVu Sans"/>
                <a:ea typeface="DejaVu Sans"/>
                <a:cs typeface="DejaVu Sans"/>
              </a:defRPr>
            </a:pPr>
            <a:r>
              <a:rPr sz="1650" b="0">
                <a:solidFill>
                  <a:srgbClr val="4C626E"/>
                </a:solidFill>
                <a:latin typeface="DejaVu Sans"/>
                <a:ea typeface="DejaVu Sans"/>
                <a:cs typeface="DejaVu Sans"/>
              </a:rPr>
              <a:t>Lid fit sketch</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d41a916fd2b4afd"/>
          <a:stretch xmlns:a="http://schemas.openxmlformats.org/drawingml/2006/main"/>
        </p:blipFill>
        <p:spPr>
          <a:xfrm xmlns:a="http://schemas.openxmlformats.org/drawingml/2006/main">
            <a:off x="4343400" y="2365919"/>
            <a:ext cx="3429000" cy="272623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ABA0CC-CDAF-4270-B7A6-7392FE19FA6B}"/>
              </a:ext>
            </a:extLst>
          </p:cNvPr>
          <p:cNvSpPr>
            <a:spLocks xmlns:a="http://schemas.openxmlformats.org/drawingml/2006/main" noGrp="1"/>
          </p:cNvSpPr>
          <p:nvPr/>
        </p:nvSpPr>
        <p:spPr>
          <a:xfrm xmlns:a="http://schemas.openxmlformats.org/drawingml/2006/main">
            <a:off x="4343400" y="56292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C626E"/>
                </a:solidFill>
                <a:latin typeface="DejaVu Sans"/>
                <a:ea typeface="DejaVu Sans"/>
                <a:cs typeface="DejaVu Sans"/>
              </a:defRPr>
            </a:pPr>
            <a:r>
              <a:rPr sz="1650" b="0">
                <a:solidFill>
                  <a:srgbClr val="4C626E"/>
                </a:solidFill>
                <a:latin typeface="DejaVu Sans"/>
                <a:ea typeface="DejaVu Sans"/>
                <a:cs typeface="DejaVu Sans"/>
              </a:rPr>
              <a:t>Dimensioned top view</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e15fdf2e754397"/>
          <a:stretch xmlns:a="http://schemas.openxmlformats.org/drawingml/2006/main"/>
        </p:blipFill>
        <p:spPr>
          <a:xfrm xmlns:a="http://schemas.openxmlformats.org/drawingml/2006/main">
            <a:off x="8077200" y="2562470"/>
            <a:ext cx="3429000" cy="233313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58B4F7E-67A3-47F9-A311-67F3A1302972}"/>
              </a:ext>
            </a:extLst>
          </p:cNvPr>
          <p:cNvSpPr>
            <a:spLocks xmlns:a="http://schemas.openxmlformats.org/drawingml/2006/main" noGrp="1"/>
          </p:cNvSpPr>
          <p:nvPr/>
        </p:nvSpPr>
        <p:spPr>
          <a:xfrm xmlns:a="http://schemas.openxmlformats.org/drawingml/2006/main">
            <a:off x="8077200" y="56292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C626E"/>
                </a:solidFill>
                <a:latin typeface="DejaVu Sans"/>
                <a:ea typeface="DejaVu Sans"/>
                <a:cs typeface="DejaVu Sans"/>
              </a:defRPr>
            </a:pPr>
            <a:r>
              <a:rPr sz="1650" b="0">
                <a:solidFill>
                  <a:srgbClr val="4C626E"/>
                </a:solidFill>
                <a:latin typeface="DejaVu Sans"/>
                <a:ea typeface="DejaVu Sans"/>
                <a:cs typeface="DejaVu Sans"/>
              </a:rPr>
              <a:t>Lid toolpath</a:t>
            </a:r>
          </a:p>
        </p:txBody>
      </p:sp>
    </p:spTree>
    <p:extLst>
      <p:ext uri="{BB962C8B-B14F-4D97-AF65-F5344CB8AC3E}">
        <p14:creationId xmlns:p14="http://schemas.microsoft.com/office/powerpoint/2010/main" val="1179675732"/>
      </p:ext>
    </p:extLst>
  </p:cSld>
</p:sld>
</file>

<file path=ppt/slides/slide1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Bridge build and design reflection">
            <a:extLst xmlns:a="http://schemas.openxmlformats.org/drawingml/2006/main">
              <a:ext uri="{FF2B5EF4-FFF2-40B4-BE49-F238E27FC236}">
                <a16:creationId xmlns:a16="http://schemas.microsoft.com/office/drawing/2014/main" id="{0DB09621-2BDE-426F-B728-BA1385B66AD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Bridge build and design reflection</a:t>
            </a:r>
          </a:p>
        </p:txBody>
      </p:sp>
      <p:sp>
        <p:nvSpPr>
          <p:cNvPr id="2" name="PLTW 2024 · Individual physical build">
            <a:extLst xmlns:a="http://schemas.openxmlformats.org/drawingml/2006/main">
              <a:ext uri="{FF2B5EF4-FFF2-40B4-BE49-F238E27FC236}">
                <a16:creationId xmlns:a16="http://schemas.microsoft.com/office/drawing/2014/main" id="{F9011DF8-B4C0-47A8-BCC8-8E598CF22853}"/>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PLTW 2024 · Individual physical build</a:t>
            </a:r>
          </a:p>
        </p:txBody>
      </p:sp>
      <p:sp>
        <p:nvSpPr>
          <p:cNvPr id="3" name="Constraints">
            <a:extLst xmlns:a="http://schemas.openxmlformats.org/drawingml/2006/main">
              <a:ext uri="{FF2B5EF4-FFF2-40B4-BE49-F238E27FC236}">
                <a16:creationId xmlns:a16="http://schemas.microsoft.com/office/drawing/2014/main" id="{4CE220DB-3F22-4BCC-86B2-8B9689A6AFC6}"/>
              </a:ext>
            </a:extLst>
          </p:cNvPr>
          <p:cNvSpPr>
            <a:spLocks xmlns:a="http://schemas.openxmlformats.org/drawingml/2006/main" noGrp="1"/>
          </p:cNvSpPr>
          <p:nvPr/>
        </p:nvSpPr>
        <p:spPr>
          <a:xfrm xmlns:a="http://schemas.openxmlformats.org/drawingml/2006/main">
            <a:off x="609600" y="1847850"/>
            <a:ext cx="4371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Constraints</a:t>
            </a:r>
          </a:p>
        </p:txBody>
      </p:sp>
      <p:sp>
        <p:nvSpPr>
          <p:cNvPr id="4" name="At most 60 popsicle sticks and a required 24-">
            <a:extLst xmlns:a="http://schemas.openxmlformats.org/drawingml/2006/main">
              <a:ext uri="{FF2B5EF4-FFF2-40B4-BE49-F238E27FC236}">
                <a16:creationId xmlns:a16="http://schemas.microsoft.com/office/drawing/2014/main" id="{CEE308BB-A341-4E83-AAE0-9543275C060A}"/>
              </a:ext>
            </a:extLst>
          </p:cNvPr>
          <p:cNvSpPr>
            <a:spLocks xmlns:a="http://schemas.openxmlformats.org/drawingml/2006/main" noGrp="1"/>
          </p:cNvSpPr>
          <p:nvPr/>
        </p:nvSpPr>
        <p:spPr>
          <a:xfrm xmlns:a="http://schemas.openxmlformats.org/drawingml/2006/main">
            <a:off x="609600" y="2257425"/>
            <a:ext cx="43719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At most 60 popsicle sticks and a required 24-inch span.</a:t>
            </a:r>
          </a:p>
        </p:txBody>
      </p:sp>
      <p:sp>
        <p:nvSpPr>
          <p:cNvPr id="5" name="Outcome">
            <a:extLst xmlns:a="http://schemas.openxmlformats.org/drawingml/2006/main">
              <a:ext uri="{FF2B5EF4-FFF2-40B4-BE49-F238E27FC236}">
                <a16:creationId xmlns:a16="http://schemas.microsoft.com/office/drawing/2014/main" id="{4DE6399F-274F-4ACD-B471-5D7E42E6A364}"/>
              </a:ext>
            </a:extLst>
          </p:cNvPr>
          <p:cNvSpPr>
            <a:spLocks xmlns:a="http://schemas.openxmlformats.org/drawingml/2006/main" noGrp="1"/>
          </p:cNvSpPr>
          <p:nvPr/>
        </p:nvSpPr>
        <p:spPr>
          <a:xfrm xmlns:a="http://schemas.openxmlformats.org/drawingml/2006/main">
            <a:off x="609600" y="3371850"/>
            <a:ext cx="4371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Outcome</a:t>
            </a:r>
          </a:p>
        </p:txBody>
      </p:sp>
      <p:sp>
        <p:nvSpPr>
          <p:cNvPr id="6" name="The bridge carried a load but fell about four">
            <a:extLst xmlns:a="http://schemas.openxmlformats.org/drawingml/2006/main">
              <a:ext uri="{FF2B5EF4-FFF2-40B4-BE49-F238E27FC236}">
                <a16:creationId xmlns:a16="http://schemas.microsoft.com/office/drawing/2014/main" id="{3C29DEFD-9DC3-41D2-8869-DD63B521FB4A}"/>
              </a:ext>
            </a:extLst>
          </p:cNvPr>
          <p:cNvSpPr>
            <a:spLocks xmlns:a="http://schemas.openxmlformats.org/drawingml/2006/main" noGrp="1"/>
          </p:cNvSpPr>
          <p:nvPr/>
        </p:nvSpPr>
        <p:spPr>
          <a:xfrm xmlns:a="http://schemas.openxmlformats.org/drawingml/2006/main">
            <a:off x="609600" y="3781425"/>
            <a:ext cx="43719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The bridge carried a load but fell about four inches short of the required span.</a:t>
            </a:r>
          </a:p>
        </p:txBody>
      </p:sp>
      <p:sp>
        <p:nvSpPr>
          <p:cNvPr id="7" name="Lesson">
            <a:extLst xmlns:a="http://schemas.openxmlformats.org/drawingml/2006/main">
              <a:ext uri="{FF2B5EF4-FFF2-40B4-BE49-F238E27FC236}">
                <a16:creationId xmlns:a16="http://schemas.microsoft.com/office/drawing/2014/main" id="{2B83B824-1898-49FD-A103-F42B000523FF}"/>
              </a:ext>
            </a:extLst>
          </p:cNvPr>
          <p:cNvSpPr>
            <a:spLocks xmlns:a="http://schemas.openxmlformats.org/drawingml/2006/main" noGrp="1"/>
          </p:cNvSpPr>
          <p:nvPr/>
        </p:nvSpPr>
        <p:spPr>
          <a:xfrm xmlns:a="http://schemas.openxmlformats.org/drawingml/2006/main">
            <a:off x="609600" y="4895850"/>
            <a:ext cx="4371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637"/>
                </a:solidFill>
                <a:latin typeface="DejaVu Sans"/>
                <a:ea typeface="DejaVu Sans"/>
                <a:cs typeface="DejaVu Sans"/>
              </a:defRPr>
            </a:pPr>
            <a:r>
              <a:rPr sz="1950" b="1">
                <a:solidFill>
                  <a:srgbClr val="102637"/>
                </a:solidFill>
                <a:latin typeface="DejaVu Sans"/>
                <a:ea typeface="DejaVu Sans"/>
                <a:cs typeface="DejaVu Sans"/>
              </a:rPr>
              <a:t>Lesson</a:t>
            </a:r>
          </a:p>
        </p:txBody>
      </p:sp>
      <p:sp>
        <p:nvSpPr>
          <p:cNvPr id="8" name="Verify dimensions before bracing. A stronger ">
            <a:extLst xmlns:a="http://schemas.openxmlformats.org/drawingml/2006/main">
              <a:ext uri="{FF2B5EF4-FFF2-40B4-BE49-F238E27FC236}">
                <a16:creationId xmlns:a16="http://schemas.microsoft.com/office/drawing/2014/main" id="{87B61969-7280-4E47-AA0D-0F5866E3A927}"/>
              </a:ext>
            </a:extLst>
          </p:cNvPr>
          <p:cNvSpPr>
            <a:spLocks xmlns:a="http://schemas.openxmlformats.org/drawingml/2006/main" noGrp="1"/>
          </p:cNvSpPr>
          <p:nvPr/>
        </p:nvSpPr>
        <p:spPr>
          <a:xfrm xmlns:a="http://schemas.openxmlformats.org/drawingml/2006/main">
            <a:off x="609600" y="5305425"/>
            <a:ext cx="43719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C626E"/>
                </a:solidFill>
                <a:latin typeface="DejaVu Sans"/>
                <a:ea typeface="DejaVu Sans"/>
                <a:cs typeface="DejaVu Sans"/>
              </a:defRPr>
            </a:pPr>
            <a:r>
              <a:rPr sz="1800" b="0">
                <a:solidFill>
                  <a:srgbClr val="4C626E"/>
                </a:solidFill>
                <a:latin typeface="DejaVu Sans"/>
                <a:ea typeface="DejaVu Sans"/>
                <a:cs typeface="DejaVu Sans"/>
              </a:rPr>
              <a:t>Verify dimensions before bracing. A stronger structure still has to meet its original requirements.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671d587ed84423a"/>
          <a:stretch xmlns:a="http://schemas.openxmlformats.org/drawingml/2006/main"/>
        </p:blipFill>
        <p:spPr>
          <a:xfrm xmlns:a="http://schemas.openxmlformats.org/drawingml/2006/main">
            <a:off x="5334000" y="1800225"/>
            <a:ext cx="6248400" cy="287655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2eae93ce1f74191"/>
          <a:stretch xmlns:a="http://schemas.openxmlformats.org/drawingml/2006/main"/>
        </p:blipFill>
        <p:spPr>
          <a:xfrm xmlns:a="http://schemas.openxmlformats.org/drawingml/2006/main">
            <a:off x="5892800" y="4857750"/>
            <a:ext cx="1968500" cy="147637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5412668accd4da8"/>
          <a:stretch xmlns:a="http://schemas.openxmlformats.org/drawingml/2006/main"/>
        </p:blipFill>
        <p:spPr>
          <a:xfrm xmlns:a="http://schemas.openxmlformats.org/drawingml/2006/main">
            <a:off x="9571434" y="4857750"/>
            <a:ext cx="1107281" cy="1476375"/>
          </a:xfrm>
          <a:prstGeom xmlns:a="http://schemas.openxmlformats.org/drawingml/2006/main" prst="rect">
            <a:avLst/>
          </a:prstGeom>
        </p:spPr>
      </p:pic>
    </p:spTree>
    <p:extLst>
      <p:ext uri="{BB962C8B-B14F-4D97-AF65-F5344CB8AC3E}">
        <p14:creationId xmlns:p14="http://schemas.microsoft.com/office/powerpoint/2010/main" val="1426738055"/>
      </p:ext>
    </p:extLst>
  </p:cSld>
</p:sld>
</file>

<file path=ppt/slides/slide1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00DDF2-2028-440E-BD28-786CB83D409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637"/>
                </a:solidFill>
                <a:latin typeface="DejaVu Sans"/>
                <a:ea typeface="DejaVu Sans"/>
                <a:cs typeface="DejaVu Sans"/>
              </a:defRPr>
            </a:pPr>
            <a:r>
              <a:rPr sz="3450" b="1">
                <a:solidFill>
                  <a:srgbClr val="102637"/>
                </a:solidFill>
                <a:latin typeface="DejaVu Sans"/>
                <a:ea typeface="DejaVu Sans"/>
                <a:cs typeface="DejaVu Sans"/>
              </a:rPr>
              <a:t>Chest cooler team CAD archive</a:t>
            </a:r>
          </a:p>
        </p:txBody>
      </p:sp>
      <p:sp>
        <p:nvSpPr>
          <p:cNvPr id="2" name="">
            <a:extLst xmlns:a="http://schemas.openxmlformats.org/drawingml/2006/main">
              <a:ext uri="{FF2B5EF4-FFF2-40B4-BE49-F238E27FC236}">
                <a16:creationId xmlns:a16="http://schemas.microsoft.com/office/drawing/2014/main" id="{16699492-5719-42A6-B432-0843A077D4D4}"/>
              </a:ext>
            </a:extLst>
          </p:cNvPr>
          <p:cNvSpPr>
            <a:spLocks xmlns:a="http://schemas.openxmlformats.org/drawingml/2006/main" noGrp="1"/>
          </p:cNvSpPr>
          <p:nvPr/>
        </p:nvSpPr>
        <p:spPr>
          <a:xfrm xmlns:a="http://schemas.openxmlformats.org/drawingml/2006/main">
            <a:off x="609600" y="1190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7F80"/>
                </a:solidFill>
                <a:latin typeface="DejaVu Sans"/>
                <a:ea typeface="DejaVu Sans"/>
                <a:cs typeface="DejaVu Sans"/>
              </a:defRPr>
            </a:pPr>
            <a:r>
              <a:rPr sz="1650" b="0">
                <a:solidFill>
                  <a:srgbClr val="147F80"/>
                </a:solidFill>
                <a:latin typeface="DejaVu Sans"/>
                <a:ea typeface="DejaVu Sans"/>
                <a:cs typeface="DejaVu Sans"/>
              </a:rPr>
              <a:t>Shared assembly context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8ad1145a7cd4008"/>
          <a:stretch xmlns:a="http://schemas.openxmlformats.org/drawingml/2006/main"/>
        </p:blipFill>
        <p:spPr>
          <a:xfrm xmlns:a="http://schemas.openxmlformats.org/drawingml/2006/main">
            <a:off x="751417" y="1838325"/>
            <a:ext cx="4936067" cy="40386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f953133eebe4d2c"/>
          <a:stretch xmlns:a="http://schemas.openxmlformats.org/drawingml/2006/main"/>
        </p:blipFill>
        <p:spPr>
          <a:xfrm xmlns:a="http://schemas.openxmlformats.org/drawingml/2006/main">
            <a:off x="6504517" y="1838325"/>
            <a:ext cx="4936067" cy="4038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6DC0E15-FE7D-4D10-8FD1-E6652EF12BC1}"/>
              </a:ext>
            </a:extLst>
          </p:cNvPr>
          <p:cNvSpPr>
            <a:spLocks xmlns:a="http://schemas.openxmlformats.org/drawingml/2006/main" noGrp="1"/>
          </p:cNvSpPr>
          <p:nvPr/>
        </p:nvSpPr>
        <p:spPr>
          <a:xfrm xmlns:a="http://schemas.openxmlformats.org/drawingml/2006/main">
            <a:off x="609600" y="6153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C626E"/>
                </a:solidFill>
                <a:latin typeface="DejaVu Sans"/>
                <a:ea typeface="DejaVu Sans"/>
                <a:cs typeface="DejaVu Sans"/>
              </a:defRPr>
            </a:pPr>
            <a:r>
              <a:rPr sz="1650" b="0">
                <a:solidFill>
                  <a:srgbClr val="4C626E"/>
                </a:solidFill>
                <a:latin typeface="DejaVu Sans"/>
                <a:ea typeface="DejaVu Sans"/>
                <a:cs typeface="DejaVu Sans"/>
              </a:rPr>
              <a:t>Team assembly geometry. My specific contribution still needs documentation.</a:t>
            </a:r>
          </a:p>
        </p:txBody>
      </p:sp>
    </p:spTree>
    <p:extLst>
      <p:ext uri="{BB962C8B-B14F-4D97-AF65-F5344CB8AC3E}">
        <p14:creationId xmlns:p14="http://schemas.microsoft.com/office/powerpoint/2010/main" val="265649072"/>
      </p:ext>
    </p:extLst>
  </p:cSld>
</p:sld>
</file>

<file path=ppt/slides/slide16.xml><?xml version="1.0" encoding="utf-8"?>
<p:sld xmlns:p="http://schemas.openxmlformats.org/presentationml/2006/main">
  <p:cSld>
    <p:bg>
      <p:bgPr>
        <a:solidFill xmlns:a="http://schemas.openxmlformats.org/drawingml/2006/main">
          <a:srgbClr val="102637"/>
        </a:solidFill>
      </p:bgPr>
    </p:bg>
    <p:spTree>
      <p:nvGrpSpPr>
        <p:cNvPr id="1" name=""/>
        <p:cNvGrpSpPr/>
        <p:nvPr/>
      </p:nvGrpSpPr>
      <p:grpSpPr>
        <a:xfrm xmlns:a="http://schemas.openxmlformats.org/drawingml/2006/main"/>
      </p:grpSpPr>
      <p:sp>
        <p:nvSpPr>
          <p:cNvPr id="5" name="What I want to build next">
            <a:extLst xmlns:a="http://schemas.openxmlformats.org/drawingml/2006/main">
              <a:ext uri="{FF2B5EF4-FFF2-40B4-BE49-F238E27FC236}">
                <a16:creationId xmlns:a16="http://schemas.microsoft.com/office/drawing/2014/main" id="{404E0AA4-EFC6-4FEB-8734-C17AF4C1A17A}"/>
              </a:ext>
            </a:extLst>
          </p:cNvPr>
          <p:cNvSpPr>
            <a:spLocks xmlns:a="http://schemas.openxmlformats.org/drawingml/2006/main" noGrp="1"/>
          </p:cNvSpPr>
          <p:nvPr/>
        </p:nvSpPr>
        <p:spPr>
          <a:xfrm xmlns:a="http://schemas.openxmlformats.org/drawingml/2006/main">
            <a:off x="609600" y="7429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What I want to build next</a:t>
            </a:r>
          </a:p>
        </p:txBody>
      </p:sp>
      <p:sp>
        <p:nvSpPr>
          <p:cNvPr id="2" name="Embedded systems that sense the physical worl">
            <a:extLst xmlns:a="http://schemas.openxmlformats.org/drawingml/2006/main">
              <a:ext uri="{FF2B5EF4-FFF2-40B4-BE49-F238E27FC236}">
                <a16:creationId xmlns:a16="http://schemas.microsoft.com/office/drawing/2014/main" id="{A0271EC6-ABB9-4FC6-82E2-0DD107843D53}"/>
              </a:ext>
            </a:extLst>
          </p:cNvPr>
          <p:cNvSpPr>
            <a:spLocks xmlns:a="http://schemas.openxmlformats.org/drawingml/2006/main" noGrp="1"/>
          </p:cNvSpPr>
          <p:nvPr/>
        </p:nvSpPr>
        <p:spPr>
          <a:xfrm xmlns:a="http://schemas.openxmlformats.org/drawingml/2006/main">
            <a:off x="609600" y="2066925"/>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DEE7EA"/>
                </a:solidFill>
                <a:latin typeface="DejaVu Sans"/>
                <a:ea typeface="DejaVu Sans"/>
                <a:cs typeface="DejaVu Sans"/>
              </a:defRPr>
            </a:pPr>
            <a:r>
              <a:rPr sz="2850" b="0">
                <a:solidFill>
                  <a:srgbClr val="DEE7EA"/>
                </a:solidFill>
                <a:latin typeface="DejaVu Sans"/>
                <a:ea typeface="DejaVu Sans"/>
                <a:cs typeface="DejaVu Sans"/>
              </a:rPr>
              <a:t>Embedded systems that sense the physical world</a:t>
            </a:r>
          </a:p>
          <a:p xmlns:a="http://schemas.openxmlformats.org/drawingml/2006/main">
            <a:pPr>
              <a:buNone/>
              <a:defRPr sz="2850" b="0">
                <a:solidFill>
                  <a:srgbClr val="DEE7EA"/>
                </a:solidFill>
                <a:latin typeface="DejaVu Sans"/>
                <a:ea typeface="DejaVu Sans"/>
                <a:cs typeface="DejaVu Sans"/>
              </a:defRPr>
            </a:pPr>
            <a:r>
              <a:rPr sz="2850" b="0">
                <a:solidFill>
                  <a:srgbClr val="DEE7EA"/>
                </a:solidFill>
                <a:latin typeface="DejaVu Sans"/>
                <a:ea typeface="DejaVu Sans"/>
                <a:cs typeface="DejaVu Sans"/>
              </a:rPr>
              <a:t>and respond reliably.</a:t>
            </a:r>
          </a:p>
        </p:txBody>
      </p:sp>
      <p:sp>
        <p:nvSpPr>
          <p:cNvPr id="3" name="I’m developing my C and embedded programming ">
            <a:extLst xmlns:a="http://schemas.openxmlformats.org/drawingml/2006/main">
              <a:ext uri="{FF2B5EF4-FFF2-40B4-BE49-F238E27FC236}">
                <a16:creationId xmlns:a16="http://schemas.microsoft.com/office/drawing/2014/main" id="{D01A28C6-69E8-4918-8801-3BA6A9A3C814}"/>
              </a:ext>
            </a:extLst>
          </p:cNvPr>
          <p:cNvSpPr>
            <a:spLocks xmlns:a="http://schemas.openxmlformats.org/drawingml/2006/main" noGrp="1"/>
          </p:cNvSpPr>
          <p:nvPr/>
        </p:nvSpPr>
        <p:spPr>
          <a:xfrm xmlns:a="http://schemas.openxmlformats.org/drawingml/2006/main">
            <a:off x="609600" y="3810000"/>
            <a:ext cx="1066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C9D0"/>
                </a:solidFill>
                <a:latin typeface="DejaVu Sans"/>
                <a:ea typeface="DejaVu Sans"/>
                <a:cs typeface="DejaVu Sans"/>
              </a:defRPr>
            </a:pPr>
            <a:r>
              <a:rPr sz="2100" b="0">
                <a:solidFill>
                  <a:srgbClr val="B9C9D0"/>
                </a:solidFill>
                <a:latin typeface="DejaVu Sans"/>
                <a:ea typeface="DejaVu Sans"/>
                <a:cs typeface="DejaVu Sans"/>
              </a:rPr>
              <a:t>I’m developing my C and embedded programming skills.</a:t>
            </a:r>
          </a:p>
          <a:p xmlns:a="http://schemas.openxmlformats.org/drawingml/2006/main">
            <a:pPr>
              <a:buNone/>
              <a:defRPr sz="2100" b="0">
                <a:solidFill>
                  <a:srgbClr val="B9C9D0"/>
                </a:solidFill>
                <a:latin typeface="DejaVu Sans"/>
                <a:ea typeface="DejaVu Sans"/>
                <a:cs typeface="DejaVu Sans"/>
              </a:defRPr>
            </a:pPr>
            <a:r>
              <a:rPr sz="2100" b="0">
                <a:solidFill>
                  <a:srgbClr val="B9C9D0"/>
                </a:solidFill>
                <a:latin typeface="DejaVu Sans"/>
                <a:ea typeface="DejaVu Sans"/>
                <a:cs typeface="DejaVu Sans"/>
              </a:rPr>
              <a:t>I’m looking for robotics, hardware, and research teams</a:t>
            </a:r>
          </a:p>
          <a:p xmlns:a="http://schemas.openxmlformats.org/drawingml/2006/main">
            <a:pPr>
              <a:buNone/>
              <a:defRPr sz="2100" b="0">
                <a:solidFill>
                  <a:srgbClr val="B9C9D0"/>
                </a:solidFill>
                <a:latin typeface="DejaVu Sans"/>
                <a:ea typeface="DejaVu Sans"/>
                <a:cs typeface="DejaVu Sans"/>
              </a:defRPr>
            </a:pPr>
            <a:r>
              <a:rPr sz="2100" b="0">
                <a:solidFill>
                  <a:srgbClr val="B9C9D0"/>
                </a:solidFill>
                <a:latin typeface="DejaVu Sans"/>
                <a:ea typeface="DejaVu Sans"/>
                <a:cs typeface="DejaVu Sans"/>
              </a:rPr>
              <a:t>where I can contribute while continuing to learn.</a:t>
            </a:r>
          </a:p>
        </p:txBody>
      </p:sp>
      <p:sp>
        <p:nvSpPr>
          <p:cNvPr id="4" name="rcortezcadenas@ucsd.edu&#10;github.com/pur35t/Bri">
            <a:extLst xmlns:a="http://schemas.openxmlformats.org/drawingml/2006/main">
              <a:ext uri="{FF2B5EF4-FFF2-40B4-BE49-F238E27FC236}">
                <a16:creationId xmlns:a16="http://schemas.microsoft.com/office/drawing/2014/main" id="{3E0F7382-7769-4CD8-8E49-2A0A301E5B03}"/>
              </a:ext>
            </a:extLst>
          </p:cNvPr>
          <p:cNvSpPr>
            <a:spLocks xmlns:a="http://schemas.openxmlformats.org/drawingml/2006/main" noGrp="1"/>
          </p:cNvSpPr>
          <p:nvPr/>
        </p:nvSpPr>
        <p:spPr>
          <a:xfrm xmlns:a="http://schemas.openxmlformats.org/drawingml/2006/main">
            <a:off x="609600" y="56197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7BC8C3"/>
                </a:solidFill>
                <a:latin typeface="DejaVu Sans"/>
                <a:ea typeface="DejaVu Sans"/>
                <a:cs typeface="DejaVu Sans"/>
              </a:defRPr>
            </a:pPr>
            <a:r>
              <a:rPr sz="1800" b="0">
                <a:solidFill>
                  <a:srgbClr val="7BC8C3"/>
                </a:solidFill>
                <a:latin typeface="DejaVu Sans"/>
                <a:ea typeface="DejaVu Sans"/>
                <a:cs typeface="DejaVu Sans"/>
              </a:rPr>
              <a:t>rcortezcadenas@ucsd.edu</a:t>
            </a:r>
          </a:p>
          <a:p xmlns:a="http://schemas.openxmlformats.org/drawingml/2006/main">
            <a:pPr>
              <a:buNone/>
              <a:defRPr sz="1800" b="0">
                <a:solidFill>
                  <a:srgbClr val="7BC8C3"/>
                </a:solidFill>
                <a:latin typeface="DejaVu Sans"/>
                <a:ea typeface="DejaVu Sans"/>
                <a:cs typeface="DejaVu Sans"/>
              </a:defRPr>
            </a:pPr>
            <a:r>
              <a:rPr sz="1800" b="0">
                <a:solidFill>
                  <a:srgbClr val="7BC8C3"/>
                </a:solidFill>
                <a:latin typeface="DejaVu Sans"/>
                <a:ea typeface="DejaVu Sans"/>
                <a:cs typeface="DejaVu Sans"/>
              </a:rPr>
              <a:t>github.com/pur35t/Brief-Projects-</a:t>
            </a:r>
          </a:p>
        </p:txBody>
      </p:sp>
    </p:spTree>
    <p:extLst>
      <p:ext uri="{BB962C8B-B14F-4D97-AF65-F5344CB8AC3E}">
        <p14:creationId xmlns:p14="http://schemas.microsoft.com/office/powerpoint/2010/main" val="14687079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2026-10-03T06:55:01.9280000Z</dcterms:created>
  <dcterms:modified xsi:type="dcterms:W3CDTF">2026-10-03T06:55:01.9280000Z</dcterms:modified>
</coreProperties>
</file>